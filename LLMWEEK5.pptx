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6" r:id="rId1"/>
  </p:sldMasterIdLst>
  <p:notesMasterIdLst>
    <p:notesMasterId r:id="rId25"/>
  </p:notesMasterIdLst>
  <p:sldIdLst>
    <p:sldId id="256" r:id="rId2"/>
    <p:sldId id="258" r:id="rId3"/>
    <p:sldId id="259" r:id="rId4"/>
    <p:sldId id="260" r:id="rId5"/>
    <p:sldId id="261" r:id="rId6"/>
    <p:sldId id="266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914" autoAdjust="0"/>
  </p:normalViewPr>
  <p:slideViewPr>
    <p:cSldViewPr>
      <p:cViewPr varScale="1">
        <p:scale>
          <a:sx n="61" d="100"/>
          <a:sy n="61" d="100"/>
        </p:scale>
        <p:origin x="1416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2E477-B70C-4632-8391-C527C9281309}" type="datetimeFigureOut">
              <a:rPr lang="tr-TR" smtClean="0"/>
              <a:t>21.10.2025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C21EC2-CB17-468B-A2FC-B7715AAA317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8015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dirty="0" smtClean="0"/>
              <a:t>Sonuç, her kelime için bir ağırlık (“IDF”) değeridir ve bu değeri, </a:t>
            </a:r>
            <a:r>
              <a:rPr lang="tr-TR" dirty="0" err="1" smtClean="0"/>
              <a:t>kelimelerinsıklığı</a:t>
            </a:r>
            <a:r>
              <a:rPr lang="tr-TR" dirty="0" smtClean="0"/>
              <a:t> (“c-TF”) ile çarparak ağırlıklı değerleri (“c-TF-IDF”) elde </a:t>
            </a:r>
            <a:r>
              <a:rPr lang="tr-TR" dirty="0" err="1" smtClean="0"/>
              <a:t>edebiliriz.Prosedürün</a:t>
            </a:r>
            <a:r>
              <a:rPr lang="tr-TR" dirty="0" smtClean="0"/>
              <a:t> bu ikinci kısmı, daha önce gördüğümüz </a:t>
            </a:r>
            <a:r>
              <a:rPr lang="tr-TR" dirty="0" err="1" smtClean="0"/>
              <a:t>gibikelimeler</a:t>
            </a:r>
            <a:r>
              <a:rPr lang="tr-TR" dirty="0" smtClean="0"/>
              <a:t> üzerinde bir dağılım oluşturmamızı </a:t>
            </a:r>
            <a:r>
              <a:rPr lang="tr-TR" dirty="0" err="1" smtClean="0"/>
              <a:t>sağlar.scikit-learn'in</a:t>
            </a:r>
            <a:r>
              <a:rPr lang="tr-TR" dirty="0" smtClean="0"/>
              <a:t> </a:t>
            </a:r>
            <a:r>
              <a:rPr lang="tr-TR" dirty="0" err="1" smtClean="0"/>
              <a:t>CountVectorizer'ını</a:t>
            </a:r>
            <a:r>
              <a:rPr lang="tr-TR" dirty="0" smtClean="0"/>
              <a:t> kullanarak kelime torbası (veya </a:t>
            </a:r>
            <a:r>
              <a:rPr lang="tr-TR" dirty="0" err="1" smtClean="0"/>
              <a:t>terimsıklığı</a:t>
            </a:r>
            <a:r>
              <a:rPr lang="tr-TR" dirty="0" smtClean="0"/>
              <a:t>) temsilini oluşturabiliriz. Burada, her küme, metin kümesinin kelime </a:t>
            </a:r>
            <a:r>
              <a:rPr lang="tr-TR" dirty="0" err="1" smtClean="0"/>
              <a:t>dağarcığınınbelirli</a:t>
            </a:r>
            <a:r>
              <a:rPr lang="tr-TR" dirty="0" smtClean="0"/>
              <a:t> bir sıralamasına sahip bir konu olarak kabul edilir.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C21EC2-CB17-468B-A2FC-B7715AAA317B}" type="slidenum">
              <a:rPr lang="tr-TR" smtClean="0"/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387403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dirty="0" smtClean="0"/>
              <a:t>Sonuç, her kelime için bir ağırlık (“IDF”) değeridir ve bu değeri, </a:t>
            </a:r>
            <a:r>
              <a:rPr lang="tr-TR" dirty="0" err="1" smtClean="0"/>
              <a:t>kelimelerinsıklığı</a:t>
            </a:r>
            <a:r>
              <a:rPr lang="tr-TR" dirty="0" smtClean="0"/>
              <a:t> (“c-TF”) ile çarparak ağırlıklı değerleri (“c-TF-IDF”) elde </a:t>
            </a:r>
            <a:r>
              <a:rPr lang="tr-TR" dirty="0" err="1" smtClean="0"/>
              <a:t>edebiliriz.Prosedürün</a:t>
            </a:r>
            <a:r>
              <a:rPr lang="tr-TR" dirty="0" smtClean="0"/>
              <a:t> bu ikinci kısmı, daha önce gördüğümüz </a:t>
            </a:r>
            <a:r>
              <a:rPr lang="tr-TR" dirty="0" err="1" smtClean="0"/>
              <a:t>gibikelimeler</a:t>
            </a:r>
            <a:r>
              <a:rPr lang="tr-TR" dirty="0" smtClean="0"/>
              <a:t> üzerinde bir dağılım oluşturmamızı </a:t>
            </a:r>
            <a:r>
              <a:rPr lang="tr-TR" dirty="0" err="1" smtClean="0"/>
              <a:t>sağlar.scikit-learn'in</a:t>
            </a:r>
            <a:r>
              <a:rPr lang="tr-TR" dirty="0" smtClean="0"/>
              <a:t> </a:t>
            </a:r>
            <a:r>
              <a:rPr lang="tr-TR" dirty="0" err="1" smtClean="0"/>
              <a:t>CountVectorizer'ını</a:t>
            </a:r>
            <a:r>
              <a:rPr lang="tr-TR" dirty="0" smtClean="0"/>
              <a:t> kullanarak kelime torbası (veya </a:t>
            </a:r>
            <a:r>
              <a:rPr lang="tr-TR" dirty="0" err="1" smtClean="0"/>
              <a:t>terimsıklığı</a:t>
            </a:r>
            <a:r>
              <a:rPr lang="tr-TR" dirty="0" smtClean="0"/>
              <a:t>) temsilini oluşturabiliriz. Burada, her küme, metin kümesinin kelime </a:t>
            </a:r>
            <a:r>
              <a:rPr lang="tr-TR" dirty="0" err="1" smtClean="0"/>
              <a:t>dağarcığınınbelirli</a:t>
            </a:r>
            <a:r>
              <a:rPr lang="tr-TR" dirty="0" smtClean="0"/>
              <a:t> bir sıralamasına sahip bir konu olarak kabul edilir.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C21EC2-CB17-468B-A2FC-B7715AAA317B}" type="slidenum">
              <a:rPr lang="tr-TR" smtClean="0"/>
              <a:t>21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11309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dirty="0" smtClean="0"/>
              <a:t>Sonuç, her kelime için bir ağırlık (“IDF”) değeridir ve bu değeri, </a:t>
            </a:r>
            <a:r>
              <a:rPr lang="tr-TR" dirty="0" err="1" smtClean="0"/>
              <a:t>kelimelerinsıklığı</a:t>
            </a:r>
            <a:r>
              <a:rPr lang="tr-TR" dirty="0" smtClean="0"/>
              <a:t> (“c-TF”) ile çarparak ağırlıklı değerleri (“c-TF-IDF”) elde </a:t>
            </a:r>
            <a:r>
              <a:rPr lang="tr-TR" dirty="0" err="1" smtClean="0"/>
              <a:t>edebiliriz.Prosedürün</a:t>
            </a:r>
            <a:r>
              <a:rPr lang="tr-TR" dirty="0" smtClean="0"/>
              <a:t> bu ikinci kısmı, daha önce gördüğümüz </a:t>
            </a:r>
            <a:r>
              <a:rPr lang="tr-TR" dirty="0" err="1" smtClean="0"/>
              <a:t>gibikelimeler</a:t>
            </a:r>
            <a:r>
              <a:rPr lang="tr-TR" dirty="0" smtClean="0"/>
              <a:t> üzerinde bir dağılım oluşturmamızı </a:t>
            </a:r>
            <a:r>
              <a:rPr lang="tr-TR" dirty="0" err="1" smtClean="0"/>
              <a:t>sağlar.scikit-learn'in</a:t>
            </a:r>
            <a:r>
              <a:rPr lang="tr-TR" dirty="0" smtClean="0"/>
              <a:t> </a:t>
            </a:r>
            <a:r>
              <a:rPr lang="tr-TR" dirty="0" err="1" smtClean="0"/>
              <a:t>CountVectorizer'ını</a:t>
            </a:r>
            <a:r>
              <a:rPr lang="tr-TR" dirty="0" smtClean="0"/>
              <a:t> kullanarak kelime torbası (veya </a:t>
            </a:r>
            <a:r>
              <a:rPr lang="tr-TR" dirty="0" err="1" smtClean="0"/>
              <a:t>terimsıklığı</a:t>
            </a:r>
            <a:r>
              <a:rPr lang="tr-TR" dirty="0" smtClean="0"/>
              <a:t>) temsilini oluşturabiliriz. Burada, her küme, metin kümesinin kelime </a:t>
            </a:r>
            <a:r>
              <a:rPr lang="tr-TR" dirty="0" err="1" smtClean="0"/>
              <a:t>dağarcığınınbelirli</a:t>
            </a:r>
            <a:r>
              <a:rPr lang="tr-TR" dirty="0" smtClean="0"/>
              <a:t> bir sıralamasına sahip bir konu olarak kabul edilir.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C21EC2-CB17-468B-A2FC-B7715AAA317B}" type="slidenum">
              <a:rPr lang="tr-TR" smtClean="0"/>
              <a:t>22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996385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dirty="0" smtClean="0"/>
              <a:t>Sonuç, her kelime için bir ağırlık (“IDF”) değeridir ve bu değeri, </a:t>
            </a:r>
            <a:r>
              <a:rPr lang="tr-TR" dirty="0" err="1" smtClean="0"/>
              <a:t>kelimelerinsıklığı</a:t>
            </a:r>
            <a:r>
              <a:rPr lang="tr-TR" dirty="0" smtClean="0"/>
              <a:t> (“c-TF”) ile çarparak ağırlıklı değerleri (“c-TF-IDF”) elde </a:t>
            </a:r>
            <a:r>
              <a:rPr lang="tr-TR" dirty="0" err="1" smtClean="0"/>
              <a:t>edebiliriz.Prosedürün</a:t>
            </a:r>
            <a:r>
              <a:rPr lang="tr-TR" dirty="0" smtClean="0"/>
              <a:t> bu ikinci kısmı, daha önce gördüğümüz </a:t>
            </a:r>
            <a:r>
              <a:rPr lang="tr-TR" dirty="0" err="1" smtClean="0"/>
              <a:t>gibikelimeler</a:t>
            </a:r>
            <a:r>
              <a:rPr lang="tr-TR" dirty="0" smtClean="0"/>
              <a:t> üzerinde bir dağılım oluşturmamızı </a:t>
            </a:r>
            <a:r>
              <a:rPr lang="tr-TR" dirty="0" err="1" smtClean="0"/>
              <a:t>sağlar.scikit-learn'in</a:t>
            </a:r>
            <a:r>
              <a:rPr lang="tr-TR" dirty="0" smtClean="0"/>
              <a:t> </a:t>
            </a:r>
            <a:r>
              <a:rPr lang="tr-TR" dirty="0" err="1" smtClean="0"/>
              <a:t>CountVectorizer'ını</a:t>
            </a:r>
            <a:r>
              <a:rPr lang="tr-TR" dirty="0" smtClean="0"/>
              <a:t> kullanarak kelime torbası (veya </a:t>
            </a:r>
            <a:r>
              <a:rPr lang="tr-TR" dirty="0" err="1" smtClean="0"/>
              <a:t>terimsıklığı</a:t>
            </a:r>
            <a:r>
              <a:rPr lang="tr-TR" dirty="0" smtClean="0"/>
              <a:t>) temsilini oluşturabiliriz. Burada, her küme, metin kümesinin kelime </a:t>
            </a:r>
            <a:r>
              <a:rPr lang="tr-TR" dirty="0" err="1" smtClean="0"/>
              <a:t>dağarcığınınbelirli</a:t>
            </a:r>
            <a:r>
              <a:rPr lang="tr-TR" dirty="0" smtClean="0"/>
              <a:t> bir sıralamasına sahip bir konu olarak kabul edilir.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C21EC2-CB17-468B-A2FC-B7715AAA317B}" type="slidenum">
              <a:rPr lang="tr-TR" smtClean="0"/>
              <a:t>23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28161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2035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05409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94823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24106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3565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8085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26798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70749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19835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89024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42061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39697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029774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ıntı 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040200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ğru veya Yanlı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522254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646253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38467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533059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18229" y="611914"/>
            <a:ext cx="4919980" cy="96244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3650"/>
              </a:lnSpc>
            </a:pPr>
            <a:r>
              <a:rPr lang="tr-TR" sz="3200" b="1" dirty="0">
                <a:solidFill>
                  <a:srgbClr val="FFFFFF"/>
                </a:solidFill>
                <a:latin typeface="Cambria"/>
                <a:cs typeface="Cambria"/>
              </a:rPr>
              <a:t>YZM423</a:t>
            </a:r>
          </a:p>
          <a:p>
            <a:pPr algn="ctr">
              <a:lnSpc>
                <a:spcPts val="3650"/>
              </a:lnSpc>
            </a:pPr>
            <a:r>
              <a:rPr lang="tr-TR" sz="3200" b="1" dirty="0">
                <a:solidFill>
                  <a:srgbClr val="FFFFFF"/>
                </a:solidFill>
                <a:latin typeface="Cambria"/>
                <a:cs typeface="Cambria"/>
              </a:rPr>
              <a:t>BÜYÜK DİL MODELLERİ</a:t>
            </a:r>
            <a:endParaRPr sz="3200" dirty="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81200" y="1857393"/>
            <a:ext cx="8610600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tr-TR" sz="4800" spc="-10" dirty="0"/>
              <a:t>Metin Kümeleme </a:t>
            </a:r>
            <a:br>
              <a:rPr lang="tr-TR" sz="4800" spc="-10" dirty="0"/>
            </a:br>
            <a:r>
              <a:rPr lang="tr-TR" sz="4800" spc="-10" dirty="0"/>
              <a:t>ve </a:t>
            </a:r>
            <a:br>
              <a:rPr lang="tr-TR" sz="4800" spc="-10" dirty="0"/>
            </a:br>
            <a:r>
              <a:rPr lang="tr-TR" sz="4800" spc="-10" dirty="0"/>
              <a:t>Konu Modelleme</a:t>
            </a:r>
            <a:endParaRPr sz="4800" dirty="0"/>
          </a:p>
        </p:txBody>
      </p:sp>
      <p:sp>
        <p:nvSpPr>
          <p:cNvPr id="5" name="object 5"/>
          <p:cNvSpPr txBox="1">
            <a:spLocks noGrp="1"/>
          </p:cNvSpPr>
          <p:nvPr>
            <p:ph idx="1"/>
          </p:nvPr>
        </p:nvSpPr>
        <p:spPr>
          <a:xfrm>
            <a:off x="2860040" y="4876800"/>
            <a:ext cx="6436359" cy="88806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130"/>
              </a:spcBef>
            </a:pPr>
            <a:r>
              <a:rPr lang="tr-TR" b="1" spc="-10" dirty="0" err="1">
                <a:solidFill>
                  <a:srgbClr val="FFFFFF"/>
                </a:solidFill>
              </a:rPr>
              <a:t>Dr.Öğr.Üyesi</a:t>
            </a:r>
            <a:r>
              <a:rPr lang="tr-TR" b="1" spc="-10" dirty="0">
                <a:solidFill>
                  <a:srgbClr val="FFFFFF"/>
                </a:solidFill>
              </a:rPr>
              <a:t> Murat ŞİMŞEK</a:t>
            </a:r>
          </a:p>
          <a:p>
            <a:pPr marL="1905" algn="ctr">
              <a:lnSpc>
                <a:spcPct val="100000"/>
              </a:lnSpc>
              <a:spcBef>
                <a:spcPts val="1130"/>
              </a:spcBef>
            </a:pPr>
            <a:r>
              <a:rPr lang="tr-TR" b="1" spc="-10" dirty="0">
                <a:solidFill>
                  <a:srgbClr val="FFFFFF"/>
                </a:solidFill>
                <a:latin typeface="Cambria"/>
                <a:cs typeface="Cambria"/>
              </a:rPr>
              <a:t>Ostim Teknik Üniversitesi</a:t>
            </a:r>
            <a:endParaRPr b="1" dirty="0">
              <a:solidFill>
                <a:srgbClr val="FFFFFF"/>
              </a:solidFill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978640" y="6567902"/>
            <a:ext cx="160655" cy="20447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mbria"/>
                <a:cs typeface="Cambria"/>
              </a:rPr>
              <a:t>1</a:t>
            </a:fld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5465" y="123512"/>
            <a:ext cx="1169670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spc="-5" dirty="0"/>
              <a:t>Büyük dil modelleri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390057-CC85-15F9-3264-A7A47F997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371600"/>
            <a:ext cx="6858000" cy="47905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83CCC-F9EA-FBEA-A213-B31DE123B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D0C9D00-2C27-9588-9E4E-B36CCA6E52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123512"/>
            <a:ext cx="1169670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spc="-10" dirty="0"/>
              <a:t>Metin Kümeleme  ve  Konu Modelleme</a:t>
            </a:r>
            <a:endParaRPr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B939190-11F8-2977-4545-0905FC3C699F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5BBB9D5-0FEC-197B-227B-BC01511147B8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65B1C3-85C3-FEB6-56BC-A53E83C47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188331"/>
            <a:ext cx="7467600" cy="436854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E331F2B-3130-B5E7-05B8-9D9EF797E177}"/>
              </a:ext>
            </a:extLst>
          </p:cNvPr>
          <p:cNvSpPr txBox="1"/>
          <p:nvPr/>
        </p:nvSpPr>
        <p:spPr>
          <a:xfrm>
            <a:off x="8077200" y="1523999"/>
            <a:ext cx="2743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Metin kümeleme, benzer metinleri anlamsal </a:t>
            </a:r>
            <a:r>
              <a:rPr lang="tr-TR" dirty="0" err="1"/>
              <a:t>içerik,anlam</a:t>
            </a:r>
            <a:r>
              <a:rPr lang="tr-TR" dirty="0"/>
              <a:t> ve ilişkilerine göre gruplandırmayı amaçlamaktadır.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1EE55B-6509-1458-7A3A-67FDC21F6A58}"/>
              </a:ext>
            </a:extLst>
          </p:cNvPr>
          <p:cNvSpPr txBox="1"/>
          <p:nvPr/>
        </p:nvSpPr>
        <p:spPr>
          <a:xfrm>
            <a:off x="685800" y="5676198"/>
            <a:ext cx="9525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Anlamsal olarak benzer belgelerin oluşturduğu kümeler, büyük hacimli yapılandırılmamış </a:t>
            </a:r>
            <a:r>
              <a:rPr lang="tr-TR" dirty="0" err="1"/>
              <a:t>metinlerinetkin</a:t>
            </a:r>
            <a:r>
              <a:rPr lang="tr-TR" dirty="0"/>
              <a:t> bir şekilde kategorize edilmesini kolaylaştırmakla kalmaz, aynı zamanda </a:t>
            </a:r>
            <a:r>
              <a:rPr lang="tr-TR" dirty="0" err="1"/>
              <a:t>hızlıkeşifsel</a:t>
            </a:r>
            <a:r>
              <a:rPr lang="tr-TR" dirty="0"/>
              <a:t> veri analizine de olanak tanır.</a:t>
            </a:r>
          </a:p>
        </p:txBody>
      </p:sp>
    </p:spTree>
    <p:extLst>
      <p:ext uri="{BB962C8B-B14F-4D97-AF65-F5344CB8AC3E}">
        <p14:creationId xmlns:p14="http://schemas.microsoft.com/office/powerpoint/2010/main" val="2228497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DBA34-AAE9-EA81-81D9-980CE27DD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F387443-2C30-3DA8-1884-29E087BC97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123512"/>
            <a:ext cx="1169670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spc="-10" dirty="0"/>
              <a:t>Metin Kümeleme  ve  Konu Modelleme</a:t>
            </a:r>
            <a:endParaRPr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BDBF04E-692D-C21E-F512-B34FD3C9580C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CAAED96-105E-5273-5353-62B7B2C00D26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BBCD78-6A98-395C-F003-3B8265CDA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99" y="1219200"/>
            <a:ext cx="8819997" cy="3733799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8C60DCA8-14A6-2B45-6B62-7B8611417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533748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Konu modelleme, metin belgelerinin kümelerine anlam kazandırmanın bir yoludur.</a:t>
            </a:r>
          </a:p>
        </p:txBody>
      </p:sp>
    </p:spTree>
    <p:extLst>
      <p:ext uri="{BB962C8B-B14F-4D97-AF65-F5344CB8AC3E}">
        <p14:creationId xmlns:p14="http://schemas.microsoft.com/office/powerpoint/2010/main" val="3395477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52AC1-563D-49EC-65A9-044393F4B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B5C6AB7-7C4D-8401-DE89-72966051F0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123512"/>
            <a:ext cx="1169670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spc="-10" dirty="0"/>
              <a:t>Metin Kümeleme  ve  Konu Modelleme</a:t>
            </a:r>
            <a:endParaRPr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3E650C8-DE4F-C00D-F10A-395F854AB0A2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76399CF-0435-C49B-BE44-7F3CBAC52BA9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31444"/>
            <a:ext cx="7924800" cy="5636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619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52AC1-563D-49EC-65A9-044393F4B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B5C6AB7-7C4D-8401-DE89-72966051F0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123512"/>
            <a:ext cx="1169670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spc="-10" dirty="0"/>
              <a:t>Metin Kümeleme  ve  Konu Modelleme</a:t>
            </a:r>
            <a:endParaRPr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3E650C8-DE4F-C00D-F10A-395F854AB0A2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76399CF-0435-C49B-BE44-7F3CBAC52BA9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A4C5F8-D0E5-5434-B44E-16E3790A4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65" y="1256178"/>
            <a:ext cx="8848706" cy="29348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254D34D-7EF2-D850-350C-C3DD45A7DD82}"/>
              </a:ext>
            </a:extLst>
          </p:cNvPr>
          <p:cNvSpPr txBox="1"/>
          <p:nvPr/>
        </p:nvSpPr>
        <p:spPr>
          <a:xfrm>
            <a:off x="381000" y="4953000"/>
            <a:ext cx="83321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Bir gömme modeli kullanarak belgeleri gömmelere dönüştürüyoruz.</a:t>
            </a:r>
          </a:p>
        </p:txBody>
      </p:sp>
    </p:spTree>
    <p:extLst>
      <p:ext uri="{BB962C8B-B14F-4D97-AF65-F5344CB8AC3E}">
        <p14:creationId xmlns:p14="http://schemas.microsoft.com/office/powerpoint/2010/main" val="3030777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2EC92-0675-F6F4-C94B-EF85AEF02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8E2C3C8-9F4A-1D68-F608-75E0755440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123512"/>
            <a:ext cx="1169670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spc="-10" dirty="0"/>
              <a:t>Metin Kümeleme  ve  Konu Modelleme</a:t>
            </a:r>
            <a:endParaRPr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48A7139-263F-4F51-1084-86BFADF08ECF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F118D71-EF21-4B65-0737-65FF2D654A47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5864C8-085B-F08D-3F72-13C70DF7B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48088"/>
            <a:ext cx="6773333" cy="4109156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B8DAF4EF-ED9B-82BD-0659-841F045AD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7186" y="2135381"/>
            <a:ext cx="362941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Boyutsallık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azaltma, yüksek boyutlu uzaydaki verilerin daha düşük boyutlu bir temsile sıkıştırılmasını sağlar.</a:t>
            </a:r>
          </a:p>
        </p:txBody>
      </p:sp>
    </p:spTree>
    <p:extLst>
      <p:ext uri="{BB962C8B-B14F-4D97-AF65-F5344CB8AC3E}">
        <p14:creationId xmlns:p14="http://schemas.microsoft.com/office/powerpoint/2010/main" val="1603042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14185-3501-C796-55B6-A7D3D095D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A4C6544-5698-A0FB-3653-2D11A74B5F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123512"/>
            <a:ext cx="1169670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spc="-10" dirty="0"/>
              <a:t>Metin Kümeleme  ve  Konu Modelleme</a:t>
            </a:r>
            <a:endParaRPr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2948537-2C6C-BC06-F3FC-CF615605F7A6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E76E966-3BC6-419B-A947-277289EF5320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A1D121-61E9-8481-3A03-95C641F47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054977"/>
            <a:ext cx="9449158" cy="3669423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04B03F0B-B8F2-F083-7684-B957B879A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5181600"/>
            <a:ext cx="953200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Gömme işlemleri, boyut indirgeme kullanılarak daha düşük boyutlu bir alana indirgenir.</a:t>
            </a:r>
          </a:p>
        </p:txBody>
      </p:sp>
    </p:spTree>
    <p:extLst>
      <p:ext uri="{BB962C8B-B14F-4D97-AF65-F5344CB8AC3E}">
        <p14:creationId xmlns:p14="http://schemas.microsoft.com/office/powerpoint/2010/main" val="3058704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7C219-2D27-06CA-3F8E-FF7D452DD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346AB3D-1CDB-A705-F5E7-A317AB56A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123512"/>
            <a:ext cx="1169670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spc="-10" dirty="0"/>
              <a:t>Metin Kümeleme  ve  Konu Modelleme</a:t>
            </a:r>
            <a:endParaRPr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92BDF66-7702-2B57-E8A2-08C5BDA0704A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4AE7D68-BD82-4388-6F0E-49D5EE25C848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CA4EF9-1A98-6391-832B-68CEFE882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94" y="1154577"/>
            <a:ext cx="9049006" cy="3136989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0B7755F8-05A8-DE12-3784-E564F2F38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465" y="50292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Boyutları azaltılmış gömülü öğeleri kullanarak belgeleri kümeliyoruz.</a:t>
            </a:r>
          </a:p>
        </p:txBody>
      </p:sp>
    </p:spTree>
    <p:extLst>
      <p:ext uri="{BB962C8B-B14F-4D97-AF65-F5344CB8AC3E}">
        <p14:creationId xmlns:p14="http://schemas.microsoft.com/office/powerpoint/2010/main" val="499926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8F33D-2DE5-9F44-2A41-05AD0E046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F5A55FE-7AC1-3F2A-5ED6-2B0C39ECCE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123512"/>
            <a:ext cx="1169670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spc="-10" dirty="0"/>
              <a:t>Metin Kümeleme  ve  Konu Modelleme</a:t>
            </a:r>
            <a:endParaRPr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8B54CF0-A6EF-A9F0-19CD-AF8AF23D69BF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B3EEE69-44D1-0AC7-897F-6AA98EA6C688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332795-8AED-229D-643C-1F7B756D9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690031"/>
            <a:ext cx="6773333" cy="3917244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364F4818-574A-F466-81B9-AEC02DCA5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9231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Kümeleme algoritması, kümelerin nasıl oluşturulduğunu değil, aynı zamanda nasıl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görüntülendiğini de etkiler.</a:t>
            </a:r>
          </a:p>
        </p:txBody>
      </p:sp>
    </p:spTree>
    <p:extLst>
      <p:ext uri="{BB962C8B-B14F-4D97-AF65-F5344CB8AC3E}">
        <p14:creationId xmlns:p14="http://schemas.microsoft.com/office/powerpoint/2010/main" val="1211267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8F33D-2DE5-9F44-2A41-05AD0E046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F5A55FE-7AC1-3F2A-5ED6-2B0C39ECCE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123512"/>
            <a:ext cx="1169670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spc="-10" dirty="0"/>
              <a:t>Metin Kümeleme  ve  Konu Modelleme</a:t>
            </a:r>
            <a:endParaRPr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8B54CF0-A6EF-A9F0-19CD-AF8AF23D69BF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B3EEE69-44D1-0AC7-897F-6AA98EA6C688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332795-8AED-229D-643C-1F7B756D9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690031"/>
            <a:ext cx="6773333" cy="3917244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364F4818-574A-F466-81B9-AEC02DCA5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9231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Kümeleme algoritması, kümelerin nasıl oluşturulduğunu değil, aynı zamanda nasıl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görüntülendiğini de etkiler.</a:t>
            </a:r>
          </a:p>
        </p:txBody>
      </p:sp>
    </p:spTree>
    <p:extLst>
      <p:ext uri="{BB962C8B-B14F-4D97-AF65-F5344CB8AC3E}">
        <p14:creationId xmlns:p14="http://schemas.microsoft.com/office/powerpoint/2010/main" val="41876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8F33D-2DE5-9F44-2A41-05AD0E046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F5A55FE-7AC1-3F2A-5ED6-2B0C39ECCE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123512"/>
            <a:ext cx="1169670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spc="-10" dirty="0"/>
              <a:t>Metin Kümeleme  ve  Konu Modelleme</a:t>
            </a:r>
            <a:endParaRPr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8B54CF0-A6EF-A9F0-19CD-AF8AF23D69BF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B3EEE69-44D1-0AC7-897F-6AA98EA6C688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65" y="1371600"/>
            <a:ext cx="6324600" cy="4678625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781800" y="1524000"/>
            <a:ext cx="48768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Oluşturulan kümeler (renkli) ve aykırı değerler (gri) 2 boyutlu bir görselleştirme olarak gösterilmektedir.</a:t>
            </a:r>
          </a:p>
        </p:txBody>
      </p:sp>
    </p:spTree>
    <p:extLst>
      <p:ext uri="{BB962C8B-B14F-4D97-AF65-F5344CB8AC3E}">
        <p14:creationId xmlns:p14="http://schemas.microsoft.com/office/powerpoint/2010/main" val="3406166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8F33D-2DE5-9F44-2A41-05AD0E046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F5A55FE-7AC1-3F2A-5ED6-2B0C39ECCE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123512"/>
            <a:ext cx="1169670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dirty="0"/>
              <a:t>Metin Kümelemeden Konu Modellemeye</a:t>
            </a:r>
            <a:endParaRPr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B3EEE69-44D1-0AC7-897F-6AA98EA6C688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Resim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49190"/>
            <a:ext cx="9753601" cy="4847986"/>
          </a:xfrm>
          <a:prstGeom prst="rect">
            <a:avLst/>
          </a:prstGeom>
        </p:spPr>
      </p:pic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914400" y="6211314"/>
            <a:ext cx="10515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Geleneksel olarak, konular bir dizi anahtar kelimeyle temsil edilir, ancak başka biçimler de alabilir.</a:t>
            </a:r>
          </a:p>
        </p:txBody>
      </p:sp>
    </p:spTree>
    <p:extLst>
      <p:ext uri="{BB962C8B-B14F-4D97-AF65-F5344CB8AC3E}">
        <p14:creationId xmlns:p14="http://schemas.microsoft.com/office/powerpoint/2010/main" val="3819733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8F33D-2DE5-9F44-2A41-05AD0E046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F5A55FE-7AC1-3F2A-5ED6-2B0C39ECCE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123512"/>
            <a:ext cx="1169670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dirty="0"/>
              <a:t>Metin Kümelemeden Konu Modellemeye</a:t>
            </a:r>
            <a:endParaRPr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B3EEE69-44D1-0AC7-897F-6AA98EA6C688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049190"/>
            <a:ext cx="8942249" cy="4742010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85800" y="6168851"/>
            <a:ext cx="9372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Anahtar kelimeler, tek bir konu üzerindeki dağılımlarına göre çıkarılır.</a:t>
            </a:r>
          </a:p>
        </p:txBody>
      </p:sp>
    </p:spTree>
    <p:extLst>
      <p:ext uri="{BB962C8B-B14F-4D97-AF65-F5344CB8AC3E}">
        <p14:creationId xmlns:p14="http://schemas.microsoft.com/office/powerpoint/2010/main" val="3118517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8F33D-2DE5-9F44-2A41-05AD0E046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F5A55FE-7AC1-3F2A-5ED6-2B0C39ECCE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123512"/>
            <a:ext cx="1169670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dirty="0" smtClean="0"/>
              <a:t> </a:t>
            </a:r>
            <a:r>
              <a:rPr lang="tr-TR" dirty="0" err="1"/>
              <a:t>BERTopic</a:t>
            </a:r>
            <a:r>
              <a:rPr lang="tr-TR" dirty="0"/>
              <a:t>: Modüler Konu Modelleme Çerçevesi</a:t>
            </a:r>
            <a:endParaRPr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B3EEE69-44D1-0AC7-897F-6AA98EA6C688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049190"/>
            <a:ext cx="9067800" cy="4914108"/>
          </a:xfrm>
          <a:prstGeom prst="rect">
            <a:avLst/>
          </a:prstGeom>
        </p:spPr>
      </p:pic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533400" y="6048481"/>
            <a:ext cx="95597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BERTopic'in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iş akışının ilk kısmı, anlamsal olarak benzer belgelerin kümelerini oluşturmaktır.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2013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8F33D-2DE5-9F44-2A41-05AD0E046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F5A55FE-7AC1-3F2A-5ED6-2B0C39ECCE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123512"/>
            <a:ext cx="1169670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dirty="0" smtClean="0"/>
              <a:t> </a:t>
            </a:r>
            <a:r>
              <a:rPr lang="tr-TR" dirty="0" err="1"/>
              <a:t>BERTopic</a:t>
            </a:r>
            <a:r>
              <a:rPr lang="tr-TR" dirty="0"/>
              <a:t>: Modüler Konu Modelleme Çerçevesi</a:t>
            </a:r>
            <a:endParaRPr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B3EEE69-44D1-0AC7-897F-6AA98EA6C688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143000"/>
            <a:ext cx="10896600" cy="470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626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8F33D-2DE5-9F44-2A41-05AD0E046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F5A55FE-7AC1-3F2A-5ED6-2B0C39ECCE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123512"/>
            <a:ext cx="1169670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dirty="0" smtClean="0"/>
              <a:t> </a:t>
            </a:r>
            <a:r>
              <a:rPr lang="tr-TR" dirty="0" err="1"/>
              <a:t>BERTopic</a:t>
            </a:r>
            <a:r>
              <a:rPr lang="tr-TR" dirty="0"/>
              <a:t>: Modüler Konu Modelleme Çerçevesi</a:t>
            </a:r>
            <a:endParaRPr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B3EEE69-44D1-0AC7-897F-6AA98EA6C688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143000"/>
            <a:ext cx="11125201" cy="4679004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914400" y="6000997"/>
            <a:ext cx="96012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Belge başına değil, küme başına kelime sıklığını sayarak </a:t>
            </a:r>
            <a:r>
              <a:rPr lang="tr-TR" altLang="tr-TR" dirty="0">
                <a:latin typeface="Arial" panose="020B0604020202020204" pitchFamily="34" charset="0"/>
              </a:rPr>
              <a:t>(</a:t>
            </a:r>
            <a:r>
              <a:rPr lang="tr-TR" altLang="tr-TR" dirty="0" err="1">
                <a:latin typeface="Arial" panose="020B0604020202020204" pitchFamily="34" charset="0"/>
              </a:rPr>
              <a:t>class-based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term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 smtClean="0">
                <a:latin typeface="Arial" panose="020B0604020202020204" pitchFamily="34" charset="0"/>
              </a:rPr>
              <a:t>frequency</a:t>
            </a:r>
            <a:r>
              <a:rPr lang="tr-TR" altLang="tr-TR" dirty="0" smtClean="0">
                <a:latin typeface="Arial" panose="020B0604020202020204" pitchFamily="34" charset="0"/>
              </a:rPr>
              <a:t>) c-TF 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oluşturma.</a:t>
            </a:r>
          </a:p>
        </p:txBody>
      </p:sp>
    </p:spTree>
    <p:extLst>
      <p:ext uri="{BB962C8B-B14F-4D97-AF65-F5344CB8AC3E}">
        <p14:creationId xmlns:p14="http://schemas.microsoft.com/office/powerpoint/2010/main" val="4223736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8F33D-2DE5-9F44-2A41-05AD0E046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F5A55FE-7AC1-3F2A-5ED6-2B0C39ECCE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123512"/>
            <a:ext cx="1169670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dirty="0" smtClean="0"/>
              <a:t> </a:t>
            </a:r>
            <a:r>
              <a:rPr lang="tr-TR" dirty="0" err="1"/>
              <a:t>BERTopic</a:t>
            </a:r>
            <a:r>
              <a:rPr lang="tr-TR" dirty="0"/>
              <a:t>: Modüler Konu Modelleme Çerçevesi</a:t>
            </a:r>
            <a:endParaRPr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B3EEE69-44D1-0AC7-897F-6AA98EA6C688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49190"/>
            <a:ext cx="9448800" cy="397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4918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8F33D-2DE5-9F44-2A41-05AD0E046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F5A55FE-7AC1-3F2A-5ED6-2B0C39ECCE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123512"/>
            <a:ext cx="1169670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dirty="0" smtClean="0"/>
              <a:t> </a:t>
            </a:r>
            <a:r>
              <a:rPr lang="tr-TR" dirty="0" err="1"/>
              <a:t>BERTopic</a:t>
            </a:r>
            <a:r>
              <a:rPr lang="tr-TR" dirty="0"/>
              <a:t>: Modüler Konu Modelleme Çerçevesi</a:t>
            </a:r>
            <a:endParaRPr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B3EEE69-44D1-0AC7-897F-6AA98EA6C688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" y="1049190"/>
            <a:ext cx="11093831" cy="4665810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914400" y="6248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Belge başına değil, küme başına kelime sıklığını sayarak c-TF oluşturma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292003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8F33D-2DE5-9F44-2A41-05AD0E046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F5A55FE-7AC1-3F2A-5ED6-2B0C39ECCE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123512"/>
            <a:ext cx="1169670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dirty="0" smtClean="0"/>
              <a:t> </a:t>
            </a:r>
            <a:r>
              <a:rPr lang="tr-TR" dirty="0" err="1"/>
              <a:t>BERTopic</a:t>
            </a:r>
            <a:r>
              <a:rPr lang="tr-TR" dirty="0"/>
              <a:t>: Modüler Konu Modelleme Çerçevesi</a:t>
            </a:r>
            <a:endParaRPr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B3EEE69-44D1-0AC7-897F-6AA98EA6C688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869441"/>
            <a:ext cx="6172200" cy="3293595"/>
          </a:xfrm>
          <a:prstGeom prst="rect">
            <a:avLst/>
          </a:prstGeom>
        </p:spPr>
      </p:pic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457200" y="4724400"/>
            <a:ext cx="1097203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b="1" dirty="0"/>
              <a:t>A</a:t>
            </a:r>
            <a:r>
              <a:rPr lang="tr-TR" dirty="0"/>
              <a:t>, c-TF-</a:t>
            </a:r>
            <a:r>
              <a:rPr lang="tr-TR" dirty="0" err="1"/>
              <a:t>IDF’de</a:t>
            </a:r>
            <a:r>
              <a:rPr lang="tr-TR" dirty="0"/>
              <a:t> “</a:t>
            </a:r>
            <a:r>
              <a:rPr lang="tr-TR" b="1" dirty="0"/>
              <a:t>sınıf-belgesi</a:t>
            </a:r>
            <a:r>
              <a:rPr lang="tr-TR" dirty="0"/>
              <a:t>” (her kümenin tüm metinlerinin birleştirilmiş hali) başına </a:t>
            </a:r>
            <a:r>
              <a:rPr lang="tr-TR" b="1" dirty="0"/>
              <a:t>ortalama kelime sayısıdır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Kelime torbasındaki her kelime, c-TF-</a:t>
            </a:r>
            <a:r>
              <a:rPr kumimoji="0" lang="tr-TR" altLang="tr-T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IDF'deki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c-TF, her kelimenin IDF değeri ile çarpılır. IDF değeri,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tüm kümelerdeki tüm kelimelerin ortalama sıklığının logaritması, her kelimenin toplam sıklığına bölünerek hesaplanır.</a:t>
            </a:r>
          </a:p>
        </p:txBody>
      </p:sp>
    </p:spTree>
    <p:extLst>
      <p:ext uri="{BB962C8B-B14F-4D97-AF65-F5344CB8AC3E}">
        <p14:creationId xmlns:p14="http://schemas.microsoft.com/office/powerpoint/2010/main" val="8803992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8F33D-2DE5-9F44-2A41-05AD0E046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F5A55FE-7AC1-3F2A-5ED6-2B0C39ECCE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123512"/>
            <a:ext cx="1169670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dirty="0" smtClean="0"/>
              <a:t> </a:t>
            </a:r>
            <a:r>
              <a:rPr lang="tr-TR" dirty="0" err="1"/>
              <a:t>BERTopic</a:t>
            </a:r>
            <a:r>
              <a:rPr lang="tr-TR" dirty="0"/>
              <a:t>: Modüler Konu Modelleme Çerçevesi</a:t>
            </a:r>
            <a:endParaRPr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B3EEE69-44D1-0AC7-897F-6AA98EA6C688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5715" y="1049190"/>
            <a:ext cx="7696200" cy="4580202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61" y="5724436"/>
            <a:ext cx="1181023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BERTopic'in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iş akışının ikinci kısmı konuları temsil etmektedir: bir sınıf *c* içindeki *x* teriminin ağırlığının hesaplanması.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*x* teriminin ağırlığı, *x* teriminin sınıf *c* içindeki ağırlıklarının toplamının, sınıf *c* içindeki tüm terimlerin ağırlıklarının</a:t>
            </a:r>
          </a:p>
        </p:txBody>
      </p:sp>
    </p:spTree>
    <p:extLst>
      <p:ext uri="{BB962C8B-B14F-4D97-AF65-F5344CB8AC3E}">
        <p14:creationId xmlns:p14="http://schemas.microsoft.com/office/powerpoint/2010/main" val="18890162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8F33D-2DE5-9F44-2A41-05AD0E046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F5A55FE-7AC1-3F2A-5ED6-2B0C39ECCE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123512"/>
            <a:ext cx="1169670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dirty="0" smtClean="0"/>
              <a:t> </a:t>
            </a:r>
            <a:r>
              <a:rPr lang="tr-TR" dirty="0" err="1"/>
              <a:t>BERTopic</a:t>
            </a:r>
            <a:r>
              <a:rPr lang="tr-TR" dirty="0"/>
              <a:t>: Modüler Konu Modelleme Çerçevesi</a:t>
            </a:r>
            <a:endParaRPr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B3EEE69-44D1-0AC7-897F-6AA98EA6C688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51" y="1049190"/>
            <a:ext cx="11658600" cy="1763651"/>
          </a:xfrm>
          <a:prstGeom prst="rect">
            <a:avLst/>
          </a:prstGeom>
        </p:spPr>
      </p:pic>
      <p:sp>
        <p:nvSpPr>
          <p:cNvPr id="7" name="Dikdörtgen 6"/>
          <p:cNvSpPr/>
          <p:nvPr/>
        </p:nvSpPr>
        <p:spPr>
          <a:xfrm>
            <a:off x="152400" y="2992589"/>
            <a:ext cx="5943600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600" b="1" dirty="0"/>
              <a:t>Clustering (Kümeleme) Bölümü:</a:t>
            </a:r>
          </a:p>
          <a:p>
            <a:r>
              <a:rPr lang="tr-TR" sz="1600" b="1" dirty="0"/>
              <a:t>1. SBERT (</a:t>
            </a:r>
            <a:r>
              <a:rPr lang="tr-TR" sz="1600" b="1" dirty="0" err="1"/>
              <a:t>Sentence</a:t>
            </a:r>
            <a:r>
              <a:rPr lang="tr-TR" sz="1600" b="1" dirty="0"/>
              <a:t>-BERT)</a:t>
            </a:r>
            <a:endParaRPr lang="tr-TR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tr-TR" sz="1600" dirty="0"/>
              <a:t>Cümleleri anlamsal vektörlere dönüştüren bir modeldir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1600" dirty="0" err="1"/>
              <a:t>BERT'in</a:t>
            </a:r>
            <a:r>
              <a:rPr lang="tr-TR" sz="1600" dirty="0"/>
              <a:t> geliştirilmiş versiyonudur ve cümle benzerliklerini hesaplamak için optimize edilmiştir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1600" dirty="0"/>
              <a:t>Her belge/cümle için yoğun vektör temsilleri (</a:t>
            </a:r>
            <a:r>
              <a:rPr lang="tr-TR" sz="1600" dirty="0" err="1"/>
              <a:t>embeddings</a:t>
            </a:r>
            <a:r>
              <a:rPr lang="tr-TR" sz="1600" dirty="0"/>
              <a:t>) oluşturur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1600" dirty="0"/>
              <a:t>Örnek: "Kedi miyavladı" ve "Kedi ses çıkardı" cümleleri benzer vektörler alır</a:t>
            </a:r>
          </a:p>
        </p:txBody>
      </p:sp>
      <p:sp>
        <p:nvSpPr>
          <p:cNvPr id="8" name="Dikdörtgen 7"/>
          <p:cNvSpPr/>
          <p:nvPr/>
        </p:nvSpPr>
        <p:spPr>
          <a:xfrm>
            <a:off x="5867042" y="2968581"/>
            <a:ext cx="60960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sz="1600" b="1" dirty="0"/>
              <a:t>2. UMAP (</a:t>
            </a:r>
            <a:r>
              <a:rPr lang="tr-TR" sz="1600" b="1" dirty="0" err="1"/>
              <a:t>Uniform</a:t>
            </a:r>
            <a:r>
              <a:rPr lang="tr-TR" sz="1600" b="1" dirty="0"/>
              <a:t> </a:t>
            </a:r>
            <a:r>
              <a:rPr lang="tr-TR" sz="1600" b="1" dirty="0" err="1"/>
              <a:t>Manifold</a:t>
            </a:r>
            <a:r>
              <a:rPr lang="tr-TR" sz="1600" b="1" dirty="0"/>
              <a:t> </a:t>
            </a:r>
            <a:r>
              <a:rPr lang="tr-TR" sz="1600" b="1" dirty="0" err="1"/>
              <a:t>Approximation</a:t>
            </a:r>
            <a:r>
              <a:rPr lang="tr-TR" sz="1600" b="1" dirty="0"/>
              <a:t> </a:t>
            </a:r>
            <a:r>
              <a:rPr lang="tr-TR" sz="1600" b="1" dirty="0" err="1"/>
              <a:t>and</a:t>
            </a:r>
            <a:r>
              <a:rPr lang="tr-TR" sz="1600" b="1" dirty="0"/>
              <a:t> </a:t>
            </a:r>
            <a:r>
              <a:rPr lang="tr-TR" sz="1600" b="1" dirty="0" err="1"/>
              <a:t>Projection</a:t>
            </a:r>
            <a:r>
              <a:rPr lang="tr-TR" sz="1600" b="1" dirty="0"/>
              <a:t>)</a:t>
            </a:r>
            <a:endParaRPr lang="tr-TR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tr-TR" sz="1600" dirty="0"/>
              <a:t>Yüksek boyutlu verileri düşük boyuta indirgeyen bir boyut indirgeme tekniğidir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1600" dirty="0" err="1"/>
              <a:t>SBERT'ten</a:t>
            </a:r>
            <a:r>
              <a:rPr lang="tr-TR" sz="1600" dirty="0"/>
              <a:t> gelen 768 boyutlu vektörleri örneğin 5-10 boyuta indirger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1600" dirty="0"/>
              <a:t>t-</a:t>
            </a:r>
            <a:r>
              <a:rPr lang="tr-TR" sz="1600" dirty="0" err="1"/>
              <a:t>SNE'ye</a:t>
            </a:r>
            <a:r>
              <a:rPr lang="tr-TR" sz="1600" dirty="0"/>
              <a:t> göre daha hızlı ve daha iyi yapı koruma özelliği vardır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1600" dirty="0"/>
              <a:t>Benzer belgelerin birbirine yakın kalmasını sağlar</a:t>
            </a:r>
          </a:p>
        </p:txBody>
      </p:sp>
      <p:sp>
        <p:nvSpPr>
          <p:cNvPr id="9" name="Dikdörtgen 8"/>
          <p:cNvSpPr/>
          <p:nvPr/>
        </p:nvSpPr>
        <p:spPr>
          <a:xfrm>
            <a:off x="2590800" y="5353074"/>
            <a:ext cx="58674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400" b="1" dirty="0"/>
              <a:t>3. HDBSCAN (</a:t>
            </a:r>
            <a:r>
              <a:rPr lang="tr-TR" sz="1400" b="1" dirty="0" err="1"/>
              <a:t>Hierarchical</a:t>
            </a:r>
            <a:r>
              <a:rPr lang="tr-TR" sz="1400" b="1" dirty="0"/>
              <a:t> </a:t>
            </a:r>
            <a:r>
              <a:rPr lang="tr-TR" sz="1400" b="1" dirty="0" err="1"/>
              <a:t>Density-Based</a:t>
            </a:r>
            <a:r>
              <a:rPr lang="tr-TR" sz="1400" b="1" dirty="0"/>
              <a:t> </a:t>
            </a:r>
            <a:r>
              <a:rPr lang="tr-TR" sz="1400" b="1" dirty="0" err="1"/>
              <a:t>Spatial</a:t>
            </a:r>
            <a:r>
              <a:rPr lang="tr-TR" sz="1400" b="1" dirty="0"/>
              <a:t> Clustering)</a:t>
            </a:r>
            <a:endParaRPr lang="tr-TR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tr-TR" sz="1400" dirty="0"/>
              <a:t>Yoğunluk tabanlı bir kümeleme algoritmasıdır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1400" dirty="0"/>
              <a:t>Benzer belgeleri otomatik olarak gruplara ayırır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1400" dirty="0"/>
              <a:t>Gürültülü verileri (</a:t>
            </a:r>
            <a:r>
              <a:rPr lang="tr-TR" sz="1400" dirty="0" err="1"/>
              <a:t>outlier</a:t>
            </a:r>
            <a:r>
              <a:rPr lang="tr-TR" sz="1400" dirty="0"/>
              <a:t>) tespit edebilir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1400" dirty="0"/>
              <a:t>Küme sayısını otomatik olarak belirler</a:t>
            </a:r>
          </a:p>
        </p:txBody>
      </p:sp>
    </p:spTree>
    <p:extLst>
      <p:ext uri="{BB962C8B-B14F-4D97-AF65-F5344CB8AC3E}">
        <p14:creationId xmlns:p14="http://schemas.microsoft.com/office/powerpoint/2010/main" val="6181027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8F33D-2DE5-9F44-2A41-05AD0E046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F5A55FE-7AC1-3F2A-5ED6-2B0C39ECCE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123512"/>
            <a:ext cx="1169670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dirty="0" smtClean="0"/>
              <a:t> </a:t>
            </a:r>
            <a:r>
              <a:rPr lang="tr-TR" dirty="0" err="1"/>
              <a:t>BERTopic</a:t>
            </a:r>
            <a:r>
              <a:rPr lang="tr-TR" dirty="0"/>
              <a:t>: Modüler Konu Modelleme Çerçevesi</a:t>
            </a:r>
            <a:endParaRPr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B3EEE69-44D1-0AC7-897F-6AA98EA6C688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27" y="1828800"/>
            <a:ext cx="11658600" cy="1763651"/>
          </a:xfrm>
          <a:prstGeom prst="rect">
            <a:avLst/>
          </a:prstGeom>
        </p:spPr>
      </p:pic>
      <p:sp>
        <p:nvSpPr>
          <p:cNvPr id="4" name="Dikdörtgen 3"/>
          <p:cNvSpPr/>
          <p:nvPr/>
        </p:nvSpPr>
        <p:spPr>
          <a:xfrm>
            <a:off x="203712" y="4114800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b="1" dirty="0" err="1"/>
              <a:t>Topic</a:t>
            </a:r>
            <a:r>
              <a:rPr lang="tr-TR" b="1" dirty="0"/>
              <a:t> </a:t>
            </a:r>
            <a:r>
              <a:rPr lang="tr-TR" b="1" dirty="0" err="1"/>
              <a:t>Representation</a:t>
            </a:r>
            <a:r>
              <a:rPr lang="tr-TR" b="1" dirty="0"/>
              <a:t> (Konu Temsili) Bölümü:</a:t>
            </a:r>
          </a:p>
          <a:p>
            <a:r>
              <a:rPr lang="tr-TR" b="1" dirty="0"/>
              <a:t>4. </a:t>
            </a:r>
            <a:r>
              <a:rPr lang="tr-TR" b="1" dirty="0" err="1"/>
              <a:t>CountVectorizer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Metinleri kelime frekanslarına dönüştürür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Her kümedeki belgelerdeki kelimelerin sayısını çıkarır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Örnek: "</a:t>
            </a:r>
            <a:r>
              <a:rPr lang="tr-TR" dirty="0" err="1"/>
              <a:t>machine</a:t>
            </a:r>
            <a:r>
              <a:rPr lang="tr-TR" dirty="0"/>
              <a:t> </a:t>
            </a:r>
            <a:r>
              <a:rPr lang="tr-TR" dirty="0" err="1"/>
              <a:t>learning</a:t>
            </a:r>
            <a:r>
              <a:rPr lang="tr-TR" dirty="0"/>
              <a:t>" kelimesi bir kümede 50 kez geçiyorsa bunu sayar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err="1"/>
              <a:t>Bag</a:t>
            </a:r>
            <a:r>
              <a:rPr lang="tr-TR" dirty="0"/>
              <a:t>-of-</a:t>
            </a:r>
            <a:r>
              <a:rPr lang="tr-TR" dirty="0" err="1"/>
              <a:t>words</a:t>
            </a:r>
            <a:r>
              <a:rPr lang="tr-TR" dirty="0"/>
              <a:t> yaklaşımını kullanır</a:t>
            </a:r>
          </a:p>
        </p:txBody>
      </p:sp>
      <p:sp>
        <p:nvSpPr>
          <p:cNvPr id="5" name="Dikdörtgen 4"/>
          <p:cNvSpPr/>
          <p:nvPr/>
        </p:nvSpPr>
        <p:spPr>
          <a:xfrm>
            <a:off x="6299712" y="3837800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b="1" dirty="0"/>
              <a:t>5. c-TF-IDF (Class-</a:t>
            </a:r>
            <a:r>
              <a:rPr lang="tr-TR" b="1" dirty="0" err="1"/>
              <a:t>based</a:t>
            </a:r>
            <a:r>
              <a:rPr lang="tr-TR" b="1" dirty="0"/>
              <a:t> </a:t>
            </a:r>
            <a:r>
              <a:rPr lang="tr-TR" b="1" dirty="0" err="1"/>
              <a:t>Term</a:t>
            </a:r>
            <a:r>
              <a:rPr lang="tr-TR" b="1" dirty="0"/>
              <a:t> </a:t>
            </a:r>
            <a:r>
              <a:rPr lang="tr-TR" b="1" dirty="0" err="1"/>
              <a:t>Frequency-Inverse</a:t>
            </a:r>
            <a:r>
              <a:rPr lang="tr-TR" b="1" dirty="0"/>
              <a:t> </a:t>
            </a:r>
            <a:r>
              <a:rPr lang="tr-TR" b="1" dirty="0" err="1"/>
              <a:t>Document</a:t>
            </a:r>
            <a:r>
              <a:rPr lang="tr-TR" b="1" dirty="0"/>
              <a:t> </a:t>
            </a:r>
            <a:r>
              <a:rPr lang="tr-TR" b="1" dirty="0" err="1"/>
              <a:t>Frequency</a:t>
            </a:r>
            <a:r>
              <a:rPr lang="tr-TR" b="1" dirty="0"/>
              <a:t>)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Her küme için en önemli kelimeleri belirler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Klasik TF-</a:t>
            </a:r>
            <a:r>
              <a:rPr lang="tr-TR" dirty="0" err="1"/>
              <a:t>IDF'nin</a:t>
            </a:r>
            <a:r>
              <a:rPr lang="tr-TR" dirty="0"/>
              <a:t> kümeleme için uyarlanmış versiyonudur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Bir kelimenin bir kümede sık, diğer kümelerde nadir geçmesini ödüllendirir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Bu sayede her kümeyi en iyi temsil eden kelimeler bulunur</a:t>
            </a:r>
          </a:p>
        </p:txBody>
      </p:sp>
    </p:spTree>
    <p:extLst>
      <p:ext uri="{BB962C8B-B14F-4D97-AF65-F5344CB8AC3E}">
        <p14:creationId xmlns:p14="http://schemas.microsoft.com/office/powerpoint/2010/main" val="67001566"/>
      </p:ext>
    </p:extLst>
  </p:cSld>
  <p:clrMapOvr>
    <a:masterClrMapping/>
  </p:clrMapOvr>
</p:sld>
</file>

<file path=ppt/theme/theme1.xml><?xml version="1.0" encoding="utf-8"?>
<a:theme xmlns:a="http://schemas.openxmlformats.org/drawingml/2006/main" name="Dilim">
  <a:themeElements>
    <a:clrScheme name="Dilim">
      <a:dk1>
        <a:sysClr val="windowText" lastClr="000000"/>
      </a:dk1>
      <a:lt1>
        <a:sysClr val="window" lastClr="FFFFFF"/>
      </a:lt1>
      <a:dk2>
        <a:srgbClr val="AD2E03"/>
      </a:dk2>
      <a:lt2>
        <a:srgbClr val="D75626"/>
      </a:lt2>
      <a:accent1>
        <a:srgbClr val="760603"/>
      </a:accent1>
      <a:accent2>
        <a:srgbClr val="FA9C1F"/>
      </a:accent2>
      <a:accent3>
        <a:srgbClr val="D9BB55"/>
      </a:accent3>
      <a:accent4>
        <a:srgbClr val="829551"/>
      </a:accent4>
      <a:accent5>
        <a:srgbClr val="58A28B"/>
      </a:accent5>
      <a:accent6>
        <a:srgbClr val="426480"/>
      </a:accent6>
      <a:hlink>
        <a:srgbClr val="460402"/>
      </a:hlink>
      <a:folHlink>
        <a:srgbClr val="991111"/>
      </a:folHlink>
    </a:clrScheme>
    <a:fontScheme name="Dilim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lim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4000"/>
                <a:hueMod val="22000"/>
                <a:satMod val="220000"/>
                <a:lumMod val="6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2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903AAAE-3EA5-424A-B142-CC51DC1F897D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777</TotalTime>
  <Words>925</Words>
  <Application>Microsoft Office PowerPoint</Application>
  <PresentationFormat>Geniş ekran</PresentationFormat>
  <Paragraphs>96</Paragraphs>
  <Slides>23</Slides>
  <Notes>4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23</vt:i4>
      </vt:variant>
    </vt:vector>
  </HeadingPairs>
  <TitlesOfParts>
    <vt:vector size="30" baseType="lpstr">
      <vt:lpstr>Aptos</vt:lpstr>
      <vt:lpstr>Arial</vt:lpstr>
      <vt:lpstr>Calibri</vt:lpstr>
      <vt:lpstr>Cambria</vt:lpstr>
      <vt:lpstr>Century Gothic</vt:lpstr>
      <vt:lpstr>Wingdings 3</vt:lpstr>
      <vt:lpstr>Dilim</vt:lpstr>
      <vt:lpstr>Metin Kümeleme  ve  Konu Modelleme</vt:lpstr>
      <vt:lpstr>Büyük dil modelleri</vt:lpstr>
      <vt:lpstr>Metin Kümeleme  ve  Konu Modelleme</vt:lpstr>
      <vt:lpstr>Metin Kümeleme  ve  Konu Modelleme</vt:lpstr>
      <vt:lpstr>Metin Kümeleme  ve  Konu Modelleme</vt:lpstr>
      <vt:lpstr>Metin Kümeleme  ve  Konu Modelleme</vt:lpstr>
      <vt:lpstr>Metin Kümeleme  ve  Konu Modelleme</vt:lpstr>
      <vt:lpstr>Metin Kümeleme  ve  Konu Modelleme</vt:lpstr>
      <vt:lpstr>Metin Kümeleme  ve  Konu Modelleme</vt:lpstr>
      <vt:lpstr>Metin Kümeleme  ve  Konu Modelleme</vt:lpstr>
      <vt:lpstr>Metin Kümeleme  ve  Konu Modelleme</vt:lpstr>
      <vt:lpstr>Metin Kümeleme  ve  Konu Modelleme</vt:lpstr>
      <vt:lpstr>Metin Kümelemeden Konu Modellemeye</vt:lpstr>
      <vt:lpstr>Metin Kümelemeden Konu Modellemeye</vt:lpstr>
      <vt:lpstr> BERTopic: Modüler Konu Modelleme Çerçevesi</vt:lpstr>
      <vt:lpstr> BERTopic: Modüler Konu Modelleme Çerçevesi</vt:lpstr>
      <vt:lpstr> BERTopic: Modüler Konu Modelleme Çerçevesi</vt:lpstr>
      <vt:lpstr> BERTopic: Modüler Konu Modelleme Çerçevesi</vt:lpstr>
      <vt:lpstr> BERTopic: Modüler Konu Modelleme Çerçevesi</vt:lpstr>
      <vt:lpstr> BERTopic: Modüler Konu Modelleme Çerçevesi</vt:lpstr>
      <vt:lpstr> BERTopic: Modüler Konu Modelleme Çerçevesi</vt:lpstr>
      <vt:lpstr> BERTopic: Modüler Konu Modelleme Çerçevesi</vt:lpstr>
      <vt:lpstr> BERTopic: Modüler Konu Modelleme Çerçevesi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LEA</dc:creator>
  <cp:lastModifiedBy>Lab43</cp:lastModifiedBy>
  <cp:revision>82</cp:revision>
  <dcterms:created xsi:type="dcterms:W3CDTF">2024-09-06T11:48:08Z</dcterms:created>
  <dcterms:modified xsi:type="dcterms:W3CDTF">2025-10-21T08:42:26Z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2022-02-26T00:00:00Z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2024-09-06T00:00:00Z</vt:filetime>
  </property>
</Properties>
</file>