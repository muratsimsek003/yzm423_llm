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6" r:id="rId1"/>
  </p:sldMasterIdLst>
  <p:notesMasterIdLst>
    <p:notesMasterId r:id="rId33"/>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914" autoAdjust="0"/>
  </p:normalViewPr>
  <p:slideViewPr>
    <p:cSldViewPr>
      <p:cViewPr varScale="1">
        <p:scale>
          <a:sx n="83" d="100"/>
          <a:sy n="83" d="100"/>
        </p:scale>
        <p:origin x="1638"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012E477-B70C-4632-8391-C527C9281309}" type="datetimeFigureOut">
              <a:rPr lang="tr-TR" smtClean="0"/>
              <a:t>24.11.2025</a:t>
            </a:fld>
            <a:endParaRPr lang="tr-TR"/>
          </a:p>
        </p:txBody>
      </p:sp>
      <p:sp>
        <p:nvSpPr>
          <p:cNvPr id="4" name="Slayt Resmi Yer Tutucusu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DC21EC2-CB17-468B-A2FC-B7715AAA317B}" type="slidenum">
              <a:rPr lang="tr-TR" smtClean="0"/>
              <a:t>‹#›</a:t>
            </a:fld>
            <a:endParaRPr lang="tr-TR"/>
          </a:p>
        </p:txBody>
      </p:sp>
    </p:spTree>
    <p:extLst>
      <p:ext uri="{BB962C8B-B14F-4D97-AF65-F5344CB8AC3E}">
        <p14:creationId xmlns:p14="http://schemas.microsoft.com/office/powerpoint/2010/main" val="358015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Uzun bir metni parçalara ayırmanın en iyi yolu, sisteminizin öngördüğü metin ve sorgu türlerine bağlıdır. Yaklaşımlar </a:t>
            </a:r>
            <a:r>
              <a:rPr lang="tr-TR" dirty="0" err="1"/>
              <a:t>şunlardır:Her</a:t>
            </a:r>
            <a:r>
              <a:rPr lang="tr-TR" dirty="0"/>
              <a:t> cümle bir parçadır. Buradaki sorun, bunun çok ayrıntılı olabileceği ve vektörlerin bağlamı yeterince </a:t>
            </a:r>
            <a:r>
              <a:rPr lang="tr-TR" dirty="0" err="1"/>
              <a:t>yakalayamayacağıdır.Her</a:t>
            </a:r>
            <a:r>
              <a:rPr lang="tr-TR" dirty="0"/>
              <a:t> paragraf bir parçadır. Metin kısa paragraflardan oluşuyorsa bu harika bir yöntemdir. Aksi takdirde, her 3-8 cümle bir parça </a:t>
            </a:r>
            <a:r>
              <a:rPr lang="tr-TR" dirty="0" err="1"/>
              <a:t>olabilir.Bazı</a:t>
            </a:r>
            <a:r>
              <a:rPr lang="tr-TR" dirty="0"/>
              <a:t> parçalar, anlamlarının çoğunu çevrelerindeki metinden alır. Bu nedenle, bazı bağlamları şu şekilde dahil </a:t>
            </a:r>
            <a:r>
              <a:rPr lang="tr-TR" dirty="0" err="1"/>
              <a:t>edebiliriz:Belgenin</a:t>
            </a:r>
            <a:r>
              <a:rPr lang="tr-TR" dirty="0"/>
              <a:t> başlığını parçaya </a:t>
            </a:r>
            <a:r>
              <a:rPr lang="tr-TR" dirty="0" err="1"/>
              <a:t>eklemek.Parçanın</a:t>
            </a:r>
            <a:r>
              <a:rPr lang="tr-TR" dirty="0"/>
              <a:t> önüne ve arkasına metinden bir kısmı eklemek. Bu şekilde, parçalar birbiriyle örtüşebilir ve böylece komşu parçalarda da görünen çevre metni içerebilir. Şekil 8-10'da bunu </a:t>
            </a:r>
            <a:r>
              <a:rPr lang="tr-TR" dirty="0" err="1"/>
              <a:t>görebiliriz.Alan</a:t>
            </a:r>
            <a:r>
              <a:rPr lang="tr-TR" dirty="0"/>
              <a:t> geliştikçe daha fazla parçalama stratejisinin ortaya çıkması beklenebilir; bunlardan bazıları, metni anlamlı parçalara dinamik olarak bölmek için </a:t>
            </a:r>
            <a:r>
              <a:rPr lang="tr-TR" dirty="0" err="1"/>
              <a:t>LLM'leri</a:t>
            </a:r>
            <a:r>
              <a:rPr lang="tr-TR" dirty="0"/>
              <a:t> bile kullanabilir.</a:t>
            </a:r>
          </a:p>
        </p:txBody>
      </p:sp>
      <p:sp>
        <p:nvSpPr>
          <p:cNvPr id="4" name="Slide Number Placeholder 3"/>
          <p:cNvSpPr>
            <a:spLocks noGrp="1"/>
          </p:cNvSpPr>
          <p:nvPr>
            <p:ph type="sldNum" sz="quarter" idx="5"/>
          </p:nvPr>
        </p:nvSpPr>
        <p:spPr/>
        <p:txBody>
          <a:bodyPr/>
          <a:lstStyle/>
          <a:p>
            <a:fld id="{DDC21EC2-CB17-468B-A2FC-B7715AAA317B}" type="slidenum">
              <a:rPr lang="tr-TR" smtClean="0"/>
              <a:t>14</a:t>
            </a:fld>
            <a:endParaRPr lang="tr-TR"/>
          </a:p>
        </p:txBody>
      </p:sp>
    </p:spTree>
    <p:extLst>
      <p:ext uri="{BB962C8B-B14F-4D97-AF65-F5344CB8AC3E}">
        <p14:creationId xmlns:p14="http://schemas.microsoft.com/office/powerpoint/2010/main" val="801592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Gömme öğeler arasındaki benzerlikleri karşılaştırarak, bir giriş istemine en uygun bilgileri bulun. En uygun bilgiler, </a:t>
            </a:r>
            <a:r>
              <a:rPr lang="tr-TR" dirty="0" err="1"/>
              <a:t>LLM'ye</a:t>
            </a:r>
            <a:r>
              <a:rPr lang="tr-TR" dirty="0"/>
              <a:t> verilmeden önce istemine eklenir.</a:t>
            </a:r>
          </a:p>
          <a:p>
            <a:endParaRPr lang="tr-TR" dirty="0"/>
          </a:p>
        </p:txBody>
      </p:sp>
      <p:sp>
        <p:nvSpPr>
          <p:cNvPr id="4" name="Slide Number Placeholder 3"/>
          <p:cNvSpPr>
            <a:spLocks noGrp="1"/>
          </p:cNvSpPr>
          <p:nvPr>
            <p:ph type="sldNum" sz="quarter" idx="5"/>
          </p:nvPr>
        </p:nvSpPr>
        <p:spPr/>
        <p:txBody>
          <a:bodyPr/>
          <a:lstStyle/>
          <a:p>
            <a:fld id="{DDC21EC2-CB17-468B-A2FC-B7715AAA317B}" type="slidenum">
              <a:rPr lang="tr-TR" smtClean="0"/>
              <a:t>31</a:t>
            </a:fld>
            <a:endParaRPr lang="tr-TR"/>
          </a:p>
        </p:txBody>
      </p:sp>
    </p:spTree>
    <p:extLst>
      <p:ext uri="{BB962C8B-B14F-4D97-AF65-F5344CB8AC3E}">
        <p14:creationId xmlns:p14="http://schemas.microsoft.com/office/powerpoint/2010/main" val="4290517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2035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2305409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1394823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11/24/2025</a:t>
            </a:fld>
            <a:endParaRPr lang="en-US"/>
          </a:p>
        </p:txBody>
      </p:sp>
      <p:sp>
        <p:nvSpPr>
          <p:cNvPr id="6" name="Footer Placeholder 5"/>
          <p:cNvSpPr>
            <a:spLocks noGrp="1"/>
          </p:cNvSpPr>
          <p:nvPr>
            <p:ph type="ftr" sz="quarter" idx="11"/>
          </p:nvPr>
        </p:nvSpPr>
        <p:spPr>
          <a:xfrm>
            <a:off x="684212" y="6172200"/>
            <a:ext cx="7543800" cy="365125"/>
          </a:xfrm>
          <a:prstGeom prst="rect">
            <a:avLst/>
          </a:prstGeom>
        </p:spPr>
        <p:txBody>
          <a:bodyPr/>
          <a:lstStyle/>
          <a:p>
            <a:endParaRPr lang="tr-TR"/>
          </a:p>
        </p:txBody>
      </p:sp>
      <p:sp>
        <p:nvSpPr>
          <p:cNvPr id="7" name="Slide Number Placeholder 6"/>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1924106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11/24/2025</a:t>
            </a:fld>
            <a:endParaRPr lang="en-US"/>
          </a:p>
        </p:txBody>
      </p:sp>
      <p:sp>
        <p:nvSpPr>
          <p:cNvPr id="8" name="Footer Placeholder 7"/>
          <p:cNvSpPr>
            <a:spLocks noGrp="1"/>
          </p:cNvSpPr>
          <p:nvPr>
            <p:ph type="ftr" sz="quarter" idx="11"/>
          </p:nvPr>
        </p:nvSpPr>
        <p:spPr>
          <a:xfrm>
            <a:off x="684212" y="6172200"/>
            <a:ext cx="7543800" cy="365125"/>
          </a:xfrm>
          <a:prstGeom prst="rect">
            <a:avLst/>
          </a:prstGeom>
        </p:spPr>
        <p:txBody>
          <a:bodyPr/>
          <a:lstStyle/>
          <a:p>
            <a:endParaRPr lang="tr-TR"/>
          </a:p>
        </p:txBody>
      </p:sp>
      <p:sp>
        <p:nvSpPr>
          <p:cNvPr id="9" name="Slide Number Placeholder 8"/>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103565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11/24/2025</a:t>
            </a:fld>
            <a:endParaRPr lang="en-US"/>
          </a:p>
        </p:txBody>
      </p:sp>
      <p:sp>
        <p:nvSpPr>
          <p:cNvPr id="4" name="Footer Placeholder 3"/>
          <p:cNvSpPr>
            <a:spLocks noGrp="1"/>
          </p:cNvSpPr>
          <p:nvPr>
            <p:ph type="ftr" sz="quarter" idx="11"/>
          </p:nvPr>
        </p:nvSpPr>
        <p:spPr>
          <a:xfrm>
            <a:off x="684212" y="6172200"/>
            <a:ext cx="7543800" cy="365125"/>
          </a:xfrm>
          <a:prstGeom prst="rect">
            <a:avLst/>
          </a:prstGeom>
        </p:spPr>
        <p:txBody>
          <a:bodyPr/>
          <a:lstStyle/>
          <a:p>
            <a:endParaRPr lang="tr-TR"/>
          </a:p>
        </p:txBody>
      </p:sp>
      <p:sp>
        <p:nvSpPr>
          <p:cNvPr id="5" name="Slide Number Placeholder 4"/>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98085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11/24/2025</a:t>
            </a:fld>
            <a:endParaRPr lang="en-US"/>
          </a:p>
        </p:txBody>
      </p:sp>
      <p:sp>
        <p:nvSpPr>
          <p:cNvPr id="3" name="Footer Placeholder 2"/>
          <p:cNvSpPr>
            <a:spLocks noGrp="1"/>
          </p:cNvSpPr>
          <p:nvPr>
            <p:ph type="ftr" sz="quarter" idx="11"/>
          </p:nvPr>
        </p:nvSpPr>
        <p:spPr>
          <a:xfrm>
            <a:off x="684212" y="6172200"/>
            <a:ext cx="7543800" cy="365125"/>
          </a:xfrm>
          <a:prstGeom prst="rect">
            <a:avLst/>
          </a:prstGeom>
        </p:spPr>
        <p:txBody>
          <a:bodyPr/>
          <a:lstStyle/>
          <a:p>
            <a:endParaRPr lang="tr-TR"/>
          </a:p>
        </p:txBody>
      </p:sp>
      <p:sp>
        <p:nvSpPr>
          <p:cNvPr id="4" name="Slide Number Placeholder 3"/>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52679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D8BD707-D9CF-40AE-B4C6-C98DA3205C09}" type="datetimeFigureOut">
              <a:rPr lang="en-US" smtClean="0"/>
              <a:t>11/24/2025</a:t>
            </a:fld>
            <a:endParaRPr lang="en-US"/>
          </a:p>
        </p:txBody>
      </p:sp>
      <p:sp>
        <p:nvSpPr>
          <p:cNvPr id="6" name="Footer Placeholder 5"/>
          <p:cNvSpPr>
            <a:spLocks noGrp="1"/>
          </p:cNvSpPr>
          <p:nvPr>
            <p:ph type="ftr" sz="quarter" idx="11"/>
          </p:nvPr>
        </p:nvSpPr>
        <p:spPr>
          <a:xfrm>
            <a:off x="684212" y="6172200"/>
            <a:ext cx="7543800" cy="365125"/>
          </a:xfrm>
          <a:prstGeom prst="rect">
            <a:avLst/>
          </a:prstGeom>
        </p:spPr>
        <p:txBody>
          <a:bodyPr/>
          <a:lstStyle/>
          <a:p>
            <a:endParaRPr lang="tr-TR"/>
          </a:p>
        </p:txBody>
      </p:sp>
      <p:sp>
        <p:nvSpPr>
          <p:cNvPr id="7" name="Slide Number Placeholder 6"/>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2870749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D8BD707-D9CF-40AE-B4C6-C98DA3205C09}" type="datetimeFigureOut">
              <a:rPr lang="en-US" smtClean="0"/>
              <a:t>11/24/2025</a:t>
            </a:fld>
            <a:endParaRPr lang="en-US"/>
          </a:p>
        </p:txBody>
      </p:sp>
      <p:sp>
        <p:nvSpPr>
          <p:cNvPr id="6" name="Footer Placeholder 5"/>
          <p:cNvSpPr>
            <a:spLocks noGrp="1"/>
          </p:cNvSpPr>
          <p:nvPr>
            <p:ph type="ftr" sz="quarter" idx="11"/>
          </p:nvPr>
        </p:nvSpPr>
        <p:spPr>
          <a:xfrm>
            <a:off x="684212" y="6172200"/>
            <a:ext cx="7543800" cy="365125"/>
          </a:xfrm>
          <a:prstGeom prst="rect">
            <a:avLst/>
          </a:prstGeom>
        </p:spPr>
        <p:txBody>
          <a:bodyPr/>
          <a:lstStyle/>
          <a:p>
            <a:endParaRPr lang="tr-TR"/>
          </a:p>
        </p:txBody>
      </p:sp>
      <p:sp>
        <p:nvSpPr>
          <p:cNvPr id="7" name="Slide Number Placeholder 6"/>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619835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1D8BD707-D9CF-40AE-B4C6-C98DA3205C09}" type="datetimeFigureOut">
              <a:rPr lang="en-US" smtClean="0"/>
              <a:t>11/24/2025</a:t>
            </a:fld>
            <a:endParaRPr lang="en-US"/>
          </a:p>
        </p:txBody>
      </p:sp>
      <p:sp>
        <p:nvSpPr>
          <p:cNvPr id="4" name="Footer Placeholder 3"/>
          <p:cNvSpPr>
            <a:spLocks noGrp="1"/>
          </p:cNvSpPr>
          <p:nvPr>
            <p:ph type="ftr" sz="quarter" idx="11"/>
          </p:nvPr>
        </p:nvSpPr>
        <p:spPr>
          <a:xfrm>
            <a:off x="684212" y="6172200"/>
            <a:ext cx="7543800" cy="365125"/>
          </a:xfrm>
          <a:prstGeom prst="rect">
            <a:avLst/>
          </a:prstGeom>
        </p:spPr>
        <p:txBody>
          <a:bodyPr/>
          <a:lstStyle/>
          <a:p>
            <a:endParaRPr lang="tr-TR" dirty="0"/>
          </a:p>
        </p:txBody>
      </p:sp>
      <p:sp>
        <p:nvSpPr>
          <p:cNvPr id="5" name="Slide Number Placeholder 4"/>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1389024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2342061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139697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3102977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204020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452225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1564625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11/24/2025</a:t>
            </a:fld>
            <a:endParaRPr lang="en-US"/>
          </a:p>
        </p:txBody>
      </p:sp>
      <p:sp>
        <p:nvSpPr>
          <p:cNvPr id="5" name="Footer Placeholder 4"/>
          <p:cNvSpPr>
            <a:spLocks noGrp="1"/>
          </p:cNvSpPr>
          <p:nvPr>
            <p:ph type="ftr" sz="quarter" idx="11"/>
          </p:nvPr>
        </p:nvSpPr>
        <p:spPr>
          <a:xfrm>
            <a:off x="684212" y="6172200"/>
            <a:ext cx="7543800" cy="365125"/>
          </a:xfrm>
          <a:prstGeom prst="rect">
            <a:avLst/>
          </a:prstGeom>
        </p:spPr>
        <p:txBody>
          <a:bodyPr/>
          <a:lstStyle/>
          <a:p>
            <a:endParaRPr lang="tr-TR"/>
          </a:p>
        </p:txBody>
      </p:sp>
      <p:sp>
        <p:nvSpPr>
          <p:cNvPr id="6" name="Slide Number Placeholder 5"/>
          <p:cNvSpPr>
            <a:spLocks noGrp="1"/>
          </p:cNvSpPr>
          <p:nvPr>
            <p:ph type="sldNum" sz="quarter" idx="12"/>
          </p:nvPr>
        </p:nvSpPr>
        <p:spPr/>
        <p:txBody>
          <a:body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1338467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1D8BD707-D9CF-40AE-B4C6-C98DA3205C09}" type="datetimeFigureOut">
              <a:rPr lang="en-US" smtClean="0"/>
              <a:t>11/24/2025</a:t>
            </a:fld>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pPr marL="38100">
              <a:lnSpc>
                <a:spcPct val="100000"/>
              </a:lnSpc>
              <a:spcBef>
                <a:spcPts val="40"/>
              </a:spcBef>
            </a:pPr>
            <a:fld id="{81D60167-4931-47E6-BA6A-407CBD079E47}" type="slidenum">
              <a:rPr lang="tr-TR" smtClean="0"/>
              <a:t>‹#›</a:t>
            </a:fld>
            <a:endParaRPr lang="tr-TR" dirty="0"/>
          </a:p>
        </p:txBody>
      </p:sp>
    </p:spTree>
    <p:extLst>
      <p:ext uri="{BB962C8B-B14F-4D97-AF65-F5344CB8AC3E}">
        <p14:creationId xmlns:p14="http://schemas.microsoft.com/office/powerpoint/2010/main" val="553305990"/>
      </p:ext>
    </p:extLst>
  </p:cSld>
  <p:clrMap bg1="dk1" tx1="lt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18229" y="611914"/>
            <a:ext cx="4919980" cy="962443"/>
          </a:xfrm>
          <a:prstGeom prst="rect">
            <a:avLst/>
          </a:prstGeom>
        </p:spPr>
        <p:txBody>
          <a:bodyPr vert="horz" wrap="square" lIns="0" tIns="13335" rIns="0" bIns="0" rtlCol="0">
            <a:spAutoFit/>
          </a:bodyPr>
          <a:lstStyle/>
          <a:p>
            <a:pPr algn="ctr">
              <a:lnSpc>
                <a:spcPts val="3650"/>
              </a:lnSpc>
            </a:pPr>
            <a:r>
              <a:rPr lang="tr-TR" sz="3200" b="1" dirty="0">
                <a:solidFill>
                  <a:srgbClr val="FFFFFF"/>
                </a:solidFill>
                <a:latin typeface="Cambria"/>
                <a:cs typeface="Cambria"/>
              </a:rPr>
              <a:t>YZM423</a:t>
            </a:r>
          </a:p>
          <a:p>
            <a:pPr algn="ctr">
              <a:lnSpc>
                <a:spcPts val="3650"/>
              </a:lnSpc>
            </a:pPr>
            <a:r>
              <a:rPr lang="tr-TR" sz="3200" b="1" dirty="0">
                <a:solidFill>
                  <a:srgbClr val="FFFFFF"/>
                </a:solidFill>
                <a:latin typeface="Cambria"/>
                <a:cs typeface="Cambria"/>
              </a:rPr>
              <a:t>BÜYÜK DİL MODELLERİ</a:t>
            </a:r>
            <a:endParaRPr sz="3200" dirty="0">
              <a:latin typeface="Cambria"/>
              <a:cs typeface="Cambria"/>
            </a:endParaRPr>
          </a:p>
        </p:txBody>
      </p:sp>
      <p:sp>
        <p:nvSpPr>
          <p:cNvPr id="3" name="object 3"/>
          <p:cNvSpPr txBox="1">
            <a:spLocks noGrp="1"/>
          </p:cNvSpPr>
          <p:nvPr>
            <p:ph type="title"/>
          </p:nvPr>
        </p:nvSpPr>
        <p:spPr>
          <a:xfrm>
            <a:off x="1981200" y="1746813"/>
            <a:ext cx="8610600" cy="3090590"/>
          </a:xfrm>
          <a:prstGeom prst="rect">
            <a:avLst/>
          </a:prstGeom>
        </p:spPr>
        <p:txBody>
          <a:bodyPr vert="horz" wrap="square" lIns="0" tIns="12700" rIns="0" bIns="0" rtlCol="0">
            <a:spAutoFit/>
          </a:bodyPr>
          <a:lstStyle/>
          <a:p>
            <a:pPr marL="12700" algn="ctr">
              <a:lnSpc>
                <a:spcPct val="100000"/>
              </a:lnSpc>
              <a:spcBef>
                <a:spcPts val="100"/>
              </a:spcBef>
            </a:pPr>
            <a:r>
              <a:rPr lang="tr-TR" sz="4800" spc="-10" dirty="0"/>
              <a:t>Anlamsal Arama ve Geri Getirme ile Güçlendirilmiş Üretim</a:t>
            </a:r>
            <a:br>
              <a:rPr lang="tr-TR" sz="4800" spc="-10" dirty="0"/>
            </a:br>
            <a:r>
              <a:rPr lang="tr-TR" sz="2800" spc="-10" dirty="0"/>
              <a:t>(</a:t>
            </a:r>
            <a:r>
              <a:rPr lang="en-US" sz="2800" spc="-10" dirty="0"/>
              <a:t>Semantic Search and Retrieval-Augmented Generation</a:t>
            </a:r>
            <a:r>
              <a:rPr lang="tr-TR" sz="2800" spc="-10" dirty="0"/>
              <a:t>)</a:t>
            </a:r>
            <a:endParaRPr sz="4800" dirty="0"/>
          </a:p>
        </p:txBody>
      </p:sp>
      <p:sp>
        <p:nvSpPr>
          <p:cNvPr id="5" name="object 5"/>
          <p:cNvSpPr txBox="1">
            <a:spLocks noGrp="1"/>
          </p:cNvSpPr>
          <p:nvPr>
            <p:ph idx="1"/>
          </p:nvPr>
        </p:nvSpPr>
        <p:spPr>
          <a:xfrm>
            <a:off x="2860039" y="5105400"/>
            <a:ext cx="6436359" cy="888064"/>
          </a:xfrm>
          <a:prstGeom prst="rect">
            <a:avLst/>
          </a:prstGeom>
        </p:spPr>
        <p:txBody>
          <a:bodyPr vert="horz" wrap="square" lIns="0" tIns="53975" rIns="0" bIns="0" rtlCol="0">
            <a:spAutoFit/>
          </a:bodyPr>
          <a:lstStyle/>
          <a:p>
            <a:pPr marL="1905" algn="ctr">
              <a:lnSpc>
                <a:spcPct val="100000"/>
              </a:lnSpc>
              <a:spcBef>
                <a:spcPts val="1130"/>
              </a:spcBef>
            </a:pPr>
            <a:r>
              <a:rPr lang="tr-TR" b="1" spc="-10" dirty="0" err="1">
                <a:solidFill>
                  <a:srgbClr val="FFFFFF"/>
                </a:solidFill>
              </a:rPr>
              <a:t>Dr.Öğr.Üyesi</a:t>
            </a:r>
            <a:r>
              <a:rPr lang="tr-TR" b="1" spc="-10" dirty="0">
                <a:solidFill>
                  <a:srgbClr val="FFFFFF"/>
                </a:solidFill>
              </a:rPr>
              <a:t> Murat ŞİMŞEK</a:t>
            </a:r>
          </a:p>
          <a:p>
            <a:pPr marL="1905" algn="ctr">
              <a:lnSpc>
                <a:spcPct val="100000"/>
              </a:lnSpc>
              <a:spcBef>
                <a:spcPts val="1130"/>
              </a:spcBef>
            </a:pPr>
            <a:r>
              <a:rPr lang="tr-TR" b="1" spc="-10" dirty="0">
                <a:solidFill>
                  <a:srgbClr val="FFFFFF"/>
                </a:solidFill>
                <a:latin typeface="Cambria"/>
                <a:cs typeface="Cambria"/>
              </a:rPr>
              <a:t>Ostim Teknik Üniversitesi</a:t>
            </a:r>
            <a:endParaRPr b="1" dirty="0">
              <a:solidFill>
                <a:srgbClr val="FFFFFF"/>
              </a:solidFill>
              <a:latin typeface="Cambria"/>
              <a:cs typeface="Cambria"/>
            </a:endParaRPr>
          </a:p>
        </p:txBody>
      </p:sp>
      <p:sp>
        <p:nvSpPr>
          <p:cNvPr id="10" name="object 10"/>
          <p:cNvSpPr txBox="1"/>
          <p:nvPr/>
        </p:nvSpPr>
        <p:spPr>
          <a:xfrm>
            <a:off x="11978640" y="6567902"/>
            <a:ext cx="160655" cy="204470"/>
          </a:xfrm>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z="1200" dirty="0">
                <a:solidFill>
                  <a:srgbClr val="888888"/>
                </a:solidFill>
                <a:latin typeface="Cambria"/>
                <a:cs typeface="Cambria"/>
              </a:rPr>
              <a:t>1</a:t>
            </a:fld>
            <a:endParaRPr sz="120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45465" y="123512"/>
            <a:ext cx="11696700" cy="566181"/>
          </a:xfrm>
          <a:prstGeom prst="rect">
            <a:avLst/>
          </a:prstGeom>
        </p:spPr>
        <p:txBody>
          <a:bodyPr vert="horz" wrap="square" lIns="0" tIns="12065" rIns="0" bIns="0" rtlCol="0">
            <a:spAutoFit/>
          </a:bodyPr>
          <a:lstStyle/>
          <a:p>
            <a:pPr marL="12700">
              <a:lnSpc>
                <a:spcPct val="100000"/>
              </a:lnSpc>
              <a:spcBef>
                <a:spcPts val="95"/>
              </a:spcBef>
            </a:pPr>
            <a:r>
              <a:rPr lang="tr-TR" spc="-5" dirty="0"/>
              <a:t>Büyük dil modelleri</a:t>
            </a:r>
            <a:endParaRPr dirty="0"/>
          </a:p>
        </p:txBody>
      </p:sp>
      <p:sp>
        <p:nvSpPr>
          <p:cNvPr id="4" name="object 4"/>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5" name="Picture 4">
            <a:extLst>
              <a:ext uri="{FF2B5EF4-FFF2-40B4-BE49-F238E27FC236}">
                <a16:creationId xmlns:a16="http://schemas.microsoft.com/office/drawing/2014/main" id="{6B390057-CC85-15F9-3264-A7A47F997799}"/>
              </a:ext>
            </a:extLst>
          </p:cNvPr>
          <p:cNvPicPr>
            <a:picLocks noChangeAspect="1"/>
          </p:cNvPicPr>
          <p:nvPr/>
        </p:nvPicPr>
        <p:blipFill>
          <a:blip r:embed="rId2"/>
          <a:stretch>
            <a:fillRect/>
          </a:stretch>
        </p:blipFill>
        <p:spPr>
          <a:xfrm>
            <a:off x="2362200" y="1371600"/>
            <a:ext cx="6858000" cy="47905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3CCC-F9EA-FBEA-A213-B31DE123BA8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D0C9D00-2C27-9588-9E4E-B36CCA6E52AF}"/>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Anlamsal Arama ve Geri Getirme ile Güçlendirilmiş Üretim</a:t>
            </a:r>
            <a:endParaRPr sz="2800" dirty="0"/>
          </a:p>
        </p:txBody>
      </p:sp>
      <p:sp>
        <p:nvSpPr>
          <p:cNvPr id="4" name="object 4">
            <a:extLst>
              <a:ext uri="{FF2B5EF4-FFF2-40B4-BE49-F238E27FC236}">
                <a16:creationId xmlns:a16="http://schemas.microsoft.com/office/drawing/2014/main" id="{2B939190-11F8-2977-4545-0905FC3C699F}"/>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85BBB9D5-0FEC-197B-227B-BC01511147B8}"/>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12" name="TextBox 11">
            <a:extLst>
              <a:ext uri="{FF2B5EF4-FFF2-40B4-BE49-F238E27FC236}">
                <a16:creationId xmlns:a16="http://schemas.microsoft.com/office/drawing/2014/main" id="{AE3D3472-3E74-3A17-F839-3418A6FFC81C}"/>
              </a:ext>
            </a:extLst>
          </p:cNvPr>
          <p:cNvSpPr txBox="1"/>
          <p:nvPr/>
        </p:nvSpPr>
        <p:spPr>
          <a:xfrm>
            <a:off x="457200" y="1110745"/>
            <a:ext cx="11201400" cy="4524315"/>
          </a:xfrm>
          <a:prstGeom prst="rect">
            <a:avLst/>
          </a:prstGeom>
          <a:noFill/>
        </p:spPr>
        <p:txBody>
          <a:bodyPr wrap="square">
            <a:spAutoFit/>
          </a:bodyPr>
          <a:lstStyle/>
          <a:p>
            <a:r>
              <a:rPr lang="tr-TR" sz="3600" dirty="0"/>
              <a:t>Arama için dil modellerinin en iyi şekilde nasıl kullanılacağına dair birçok araştırma yapılmıştır. Bu modellerin üç geniş kategorisi :</a:t>
            </a:r>
          </a:p>
          <a:p>
            <a:pPr marL="285750" indent="-285750">
              <a:buFont typeface="Arial" panose="020B0604020202020204" pitchFamily="34" charset="0"/>
              <a:buChar char="•"/>
            </a:pPr>
            <a:r>
              <a:rPr lang="tr-TR" sz="3600" dirty="0"/>
              <a:t> Yoğun Geri Alma (dense </a:t>
            </a:r>
            <a:r>
              <a:rPr lang="tr-TR" sz="3600" dirty="0" err="1"/>
              <a:t>retrieval</a:t>
            </a:r>
            <a:r>
              <a:rPr lang="tr-TR" sz="3600" dirty="0"/>
              <a:t>)</a:t>
            </a:r>
          </a:p>
          <a:p>
            <a:pPr marL="285750" indent="-285750">
              <a:buFont typeface="Arial" panose="020B0604020202020204" pitchFamily="34" charset="0"/>
              <a:buChar char="•"/>
            </a:pPr>
            <a:r>
              <a:rPr lang="tr-TR" sz="3600" dirty="0"/>
              <a:t> Yeniden sıralama  (</a:t>
            </a:r>
            <a:r>
              <a:rPr lang="tr-TR" sz="3600" dirty="0" err="1"/>
              <a:t>reranking</a:t>
            </a:r>
            <a:r>
              <a:rPr lang="tr-TR" sz="3600" dirty="0"/>
              <a:t>)</a:t>
            </a:r>
          </a:p>
          <a:p>
            <a:pPr marL="285750" indent="-285750">
              <a:buFont typeface="Arial" panose="020B0604020202020204" pitchFamily="34" charset="0"/>
              <a:buChar char="•"/>
            </a:pPr>
            <a:r>
              <a:rPr lang="tr-TR" sz="3600" dirty="0"/>
              <a:t> RAG</a:t>
            </a:r>
          </a:p>
          <a:p>
            <a:endParaRPr lang="tr-TR" sz="3600" dirty="0"/>
          </a:p>
          <a:p>
            <a:endParaRPr lang="tr-TR" dirty="0"/>
          </a:p>
          <a:p>
            <a:endParaRPr lang="tr-TR" dirty="0"/>
          </a:p>
        </p:txBody>
      </p:sp>
    </p:spTree>
    <p:extLst>
      <p:ext uri="{BB962C8B-B14F-4D97-AF65-F5344CB8AC3E}">
        <p14:creationId xmlns:p14="http://schemas.microsoft.com/office/powerpoint/2010/main" val="2228497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018E2-D69C-FEAE-220F-01983094EAF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A17AAE9-7C6B-2FD2-C8A6-3678D5CC8276}"/>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Anlamsal Arama ve Geri Getirme ile Güçlendirilmiş Üretim</a:t>
            </a:r>
            <a:endParaRPr sz="2800" dirty="0"/>
          </a:p>
        </p:txBody>
      </p:sp>
      <p:sp>
        <p:nvSpPr>
          <p:cNvPr id="4" name="object 4">
            <a:extLst>
              <a:ext uri="{FF2B5EF4-FFF2-40B4-BE49-F238E27FC236}">
                <a16:creationId xmlns:a16="http://schemas.microsoft.com/office/drawing/2014/main" id="{63F6B74C-4B88-B15F-614F-711D9CEB6EB4}"/>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B39EACBC-6216-A5E2-9AA0-63A8B6FF19E5}"/>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12" name="TextBox 11">
            <a:extLst>
              <a:ext uri="{FF2B5EF4-FFF2-40B4-BE49-F238E27FC236}">
                <a16:creationId xmlns:a16="http://schemas.microsoft.com/office/drawing/2014/main" id="{493471E1-F4FE-DB64-193E-4357EC8CA4FE}"/>
              </a:ext>
            </a:extLst>
          </p:cNvPr>
          <p:cNvSpPr txBox="1"/>
          <p:nvPr/>
        </p:nvSpPr>
        <p:spPr>
          <a:xfrm>
            <a:off x="457200" y="1110745"/>
            <a:ext cx="11201400" cy="1938992"/>
          </a:xfrm>
          <a:prstGeom prst="rect">
            <a:avLst/>
          </a:prstGeom>
          <a:noFill/>
        </p:spPr>
        <p:txBody>
          <a:bodyPr wrap="square">
            <a:spAutoFit/>
          </a:bodyPr>
          <a:lstStyle/>
          <a:p>
            <a:r>
              <a:rPr lang="tr-TR" sz="2400" dirty="0"/>
              <a:t>Yoğun Geri Alma</a:t>
            </a:r>
          </a:p>
          <a:p>
            <a:r>
              <a:rPr lang="tr-TR" sz="2400" dirty="0"/>
              <a:t>Yoğun geri alma sistemleri, önceki bölümlerde karşılaştığımız gömme kavramına dayanır ve arama sorununu, arama sorgusunun en yakın komşularını geri almaya dönüştürür (hem sorgu hem de belgeler gömme haline dönüştürüldükten sonra).</a:t>
            </a:r>
          </a:p>
        </p:txBody>
      </p:sp>
      <p:pic>
        <p:nvPicPr>
          <p:cNvPr id="13314" name="Picture 2">
            <a:extLst>
              <a:ext uri="{FF2B5EF4-FFF2-40B4-BE49-F238E27FC236}">
                <a16:creationId xmlns:a16="http://schemas.microsoft.com/office/drawing/2014/main" id="{1BCDB897-9490-7A89-6B4C-5F19C48BF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301274"/>
            <a:ext cx="5715000" cy="3257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534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91AD-055C-53BB-0F0B-C499C9178F5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5308231-6D29-5716-81C4-C72A3CF116F6}"/>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Anlamsal Arama ve Geri Getirme ile Güçlendirilmiş Üretim </a:t>
            </a:r>
            <a:endParaRPr sz="2800" dirty="0"/>
          </a:p>
        </p:txBody>
      </p:sp>
      <p:sp>
        <p:nvSpPr>
          <p:cNvPr id="4" name="object 4">
            <a:extLst>
              <a:ext uri="{FF2B5EF4-FFF2-40B4-BE49-F238E27FC236}">
                <a16:creationId xmlns:a16="http://schemas.microsoft.com/office/drawing/2014/main" id="{E3223780-D5C4-C6BF-33C7-56C6D220626A}"/>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26DDC3EE-F1CC-9C4A-7639-99A3BA42B1A5}"/>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12" name="TextBox 11">
            <a:extLst>
              <a:ext uri="{FF2B5EF4-FFF2-40B4-BE49-F238E27FC236}">
                <a16:creationId xmlns:a16="http://schemas.microsoft.com/office/drawing/2014/main" id="{F632BDE5-46D9-98AE-2ABA-4E3CADE823EA}"/>
              </a:ext>
            </a:extLst>
          </p:cNvPr>
          <p:cNvSpPr txBox="1"/>
          <p:nvPr/>
        </p:nvSpPr>
        <p:spPr>
          <a:xfrm>
            <a:off x="457200" y="1110745"/>
            <a:ext cx="11201400" cy="1938992"/>
          </a:xfrm>
          <a:prstGeom prst="rect">
            <a:avLst/>
          </a:prstGeom>
          <a:noFill/>
        </p:spPr>
        <p:txBody>
          <a:bodyPr wrap="square">
            <a:spAutoFit/>
          </a:bodyPr>
          <a:lstStyle/>
          <a:p>
            <a:r>
              <a:rPr lang="tr-TR" sz="2400" dirty="0"/>
              <a:t>Yeniden sıralama</a:t>
            </a:r>
          </a:p>
          <a:p>
            <a:r>
              <a:rPr lang="tr-TR" sz="2400" dirty="0"/>
              <a:t>Arama sistemleri genellikle çok adımlı süreçlerdir. Yeniden sıralama dil modeli bu adımlardan biridir ve sorguya göre sonuçların bir alt kümesinin alaka düzeyini puanlamakla görevlidir; sonuçların sırası daha sonra bu puanlara göre değiştirilir. </a:t>
            </a:r>
          </a:p>
        </p:txBody>
      </p:sp>
      <p:pic>
        <p:nvPicPr>
          <p:cNvPr id="14338" name="Picture 2">
            <a:extLst>
              <a:ext uri="{FF2B5EF4-FFF2-40B4-BE49-F238E27FC236}">
                <a16:creationId xmlns:a16="http://schemas.microsoft.com/office/drawing/2014/main" id="{660BC5C8-8977-3B84-894D-92FE52EEC1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428" y="3280430"/>
            <a:ext cx="7907144" cy="2938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607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DAEF8-08DD-F65E-07FD-19072ABADC2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6FFFE5C-EECD-1FBE-2A4B-1A9AD437BDCF}"/>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Anlamsal Arama ve Geri Getirme ile Güçlendirilmiş Üretim </a:t>
            </a:r>
            <a:endParaRPr sz="2800" dirty="0"/>
          </a:p>
        </p:txBody>
      </p:sp>
      <p:sp>
        <p:nvSpPr>
          <p:cNvPr id="4" name="object 4">
            <a:extLst>
              <a:ext uri="{FF2B5EF4-FFF2-40B4-BE49-F238E27FC236}">
                <a16:creationId xmlns:a16="http://schemas.microsoft.com/office/drawing/2014/main" id="{C32E64EB-C214-64AD-7AF7-C2DD974779F4}"/>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11079D00-C93E-6B24-8985-0AEAF978F4F4}"/>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12" name="TextBox 11">
            <a:extLst>
              <a:ext uri="{FF2B5EF4-FFF2-40B4-BE49-F238E27FC236}">
                <a16:creationId xmlns:a16="http://schemas.microsoft.com/office/drawing/2014/main" id="{2DEFB204-9FE9-FD40-4546-D9CEF3103576}"/>
              </a:ext>
            </a:extLst>
          </p:cNvPr>
          <p:cNvSpPr txBox="1"/>
          <p:nvPr/>
        </p:nvSpPr>
        <p:spPr>
          <a:xfrm>
            <a:off x="457200" y="1110745"/>
            <a:ext cx="11201400" cy="3416320"/>
          </a:xfrm>
          <a:prstGeom prst="rect">
            <a:avLst/>
          </a:prstGeom>
          <a:noFill/>
        </p:spPr>
        <p:txBody>
          <a:bodyPr wrap="square">
            <a:spAutoFit/>
          </a:bodyPr>
          <a:lstStyle/>
          <a:p>
            <a:r>
              <a:rPr lang="tr-TR" sz="2400" dirty="0"/>
              <a:t>RAG</a:t>
            </a:r>
          </a:p>
          <a:p>
            <a:r>
              <a:rPr lang="tr-TR" sz="2400" dirty="0"/>
              <a:t>Metin üretiminin artan LLM kapasitesi, bir sorguya yanıt olarak cevap üreten bir model içeren yeni bir tür arama sistemlerinin ortaya çıkmasına neden olmuştur. </a:t>
            </a:r>
          </a:p>
          <a:p>
            <a:endParaRPr lang="tr-TR" sz="2400" dirty="0"/>
          </a:p>
          <a:p>
            <a:r>
              <a:rPr lang="tr-TR" sz="2400" dirty="0"/>
              <a:t>Üretken arama, daha geniş bir sistem kategorisi olan RAG sistemlerinin bir alt kümesidir. Bunlar, halüsinasyonları azaltmak, gerçekliği artırmak ve/veya üretim modelini belirli bir veri kümesine dayandırmak için arama yeteneklerini içeren metin üretim sistemleridir.</a:t>
            </a:r>
          </a:p>
        </p:txBody>
      </p:sp>
    </p:spTree>
    <p:extLst>
      <p:ext uri="{BB962C8B-B14F-4D97-AF65-F5344CB8AC3E}">
        <p14:creationId xmlns:p14="http://schemas.microsoft.com/office/powerpoint/2010/main" val="347869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73E95-3F1B-6F01-E985-BFB8475E8E5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78F0A70-8481-5996-674D-10ADBA3C0639}"/>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Anlamsal Arama ve Geri Getirme ile Güçlendirilmiş Üretim </a:t>
            </a:r>
            <a:endParaRPr sz="2800" dirty="0"/>
          </a:p>
        </p:txBody>
      </p:sp>
      <p:sp>
        <p:nvSpPr>
          <p:cNvPr id="4" name="object 4">
            <a:extLst>
              <a:ext uri="{FF2B5EF4-FFF2-40B4-BE49-F238E27FC236}">
                <a16:creationId xmlns:a16="http://schemas.microsoft.com/office/drawing/2014/main" id="{F1FC71F7-4A81-46B2-8DAA-CBFA681CEFFB}"/>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DD5923B3-681A-8F1F-928F-E7291B956784}"/>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12" name="TextBox 11">
            <a:extLst>
              <a:ext uri="{FF2B5EF4-FFF2-40B4-BE49-F238E27FC236}">
                <a16:creationId xmlns:a16="http://schemas.microsoft.com/office/drawing/2014/main" id="{A5560DFD-40DE-6EFF-034E-8C6C1D29E41D}"/>
              </a:ext>
            </a:extLst>
          </p:cNvPr>
          <p:cNvSpPr txBox="1"/>
          <p:nvPr/>
        </p:nvSpPr>
        <p:spPr>
          <a:xfrm>
            <a:off x="457200" y="1110745"/>
            <a:ext cx="11201400" cy="461665"/>
          </a:xfrm>
          <a:prstGeom prst="rect">
            <a:avLst/>
          </a:prstGeom>
          <a:noFill/>
        </p:spPr>
        <p:txBody>
          <a:bodyPr wrap="square">
            <a:spAutoFit/>
          </a:bodyPr>
          <a:lstStyle/>
          <a:p>
            <a:r>
              <a:rPr lang="tr-TR" sz="2400" dirty="0"/>
              <a:t>RAG</a:t>
            </a:r>
          </a:p>
        </p:txBody>
      </p:sp>
      <p:pic>
        <p:nvPicPr>
          <p:cNvPr id="15362" name="Picture 2">
            <a:extLst>
              <a:ext uri="{FF2B5EF4-FFF2-40B4-BE49-F238E27FC236}">
                <a16:creationId xmlns:a16="http://schemas.microsoft.com/office/drawing/2014/main" id="{15828DB5-650E-B7E7-511D-2D2BD9A87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76400"/>
            <a:ext cx="102870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83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56104-2F5B-D9C8-18B8-A041B5264A7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33C02E3-CE20-4D1C-CDDF-CDBD08FFA028}"/>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98682371-010E-BA54-4B51-F386FF1F377A}"/>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3A63AAE0-5F11-67B1-348F-18AEE3373A02}"/>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12" name="TextBox 11">
            <a:extLst>
              <a:ext uri="{FF2B5EF4-FFF2-40B4-BE49-F238E27FC236}">
                <a16:creationId xmlns:a16="http://schemas.microsoft.com/office/drawing/2014/main" id="{58F305A3-A0F4-A846-2E65-DC6D38199813}"/>
              </a:ext>
            </a:extLst>
          </p:cNvPr>
          <p:cNvSpPr txBox="1"/>
          <p:nvPr/>
        </p:nvSpPr>
        <p:spPr>
          <a:xfrm>
            <a:off x="457200" y="1110745"/>
            <a:ext cx="11201400" cy="369332"/>
          </a:xfrm>
          <a:prstGeom prst="rect">
            <a:avLst/>
          </a:prstGeom>
          <a:noFill/>
        </p:spPr>
        <p:txBody>
          <a:bodyPr wrap="square">
            <a:spAutoFit/>
          </a:bodyPr>
          <a:lstStyle/>
          <a:p>
            <a:pPr fontAlgn="base"/>
            <a:r>
              <a:rPr lang="tr-TR" b="1" dirty="0"/>
              <a:t>Dense </a:t>
            </a:r>
            <a:r>
              <a:rPr lang="tr-TR" b="1" dirty="0" err="1"/>
              <a:t>Retrieval</a:t>
            </a:r>
            <a:endParaRPr lang="tr-TR" b="1" dirty="0"/>
          </a:p>
        </p:txBody>
      </p:sp>
      <p:pic>
        <p:nvPicPr>
          <p:cNvPr id="16386" name="Picture 2">
            <a:extLst>
              <a:ext uri="{FF2B5EF4-FFF2-40B4-BE49-F238E27FC236}">
                <a16:creationId xmlns:a16="http://schemas.microsoft.com/office/drawing/2014/main" id="{464C5E37-792B-A1FE-1466-40B57D46C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81277"/>
            <a:ext cx="5715000" cy="3581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27D69E-FD0E-6C29-F012-25347B9A59DE}"/>
              </a:ext>
            </a:extLst>
          </p:cNvPr>
          <p:cNvSpPr txBox="1"/>
          <p:nvPr/>
        </p:nvSpPr>
        <p:spPr>
          <a:xfrm>
            <a:off x="1676400" y="5665393"/>
            <a:ext cx="6099858" cy="646331"/>
          </a:xfrm>
          <a:prstGeom prst="rect">
            <a:avLst/>
          </a:prstGeom>
          <a:noFill/>
        </p:spPr>
        <p:txBody>
          <a:bodyPr wrap="square">
            <a:spAutoFit/>
          </a:bodyPr>
          <a:lstStyle/>
          <a:p>
            <a:r>
              <a:rPr lang="tr-TR" dirty="0"/>
              <a:t>Gömmelerin sezgisi: Her metin bir noktadır ve benzer anlama sahip metinler birbirine yakındır.</a:t>
            </a:r>
          </a:p>
        </p:txBody>
      </p:sp>
    </p:spTree>
    <p:extLst>
      <p:ext uri="{BB962C8B-B14F-4D97-AF65-F5344CB8AC3E}">
        <p14:creationId xmlns:p14="http://schemas.microsoft.com/office/powerpoint/2010/main" val="659573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0C924-2B5B-FEA6-0697-C0257E1CDE0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70A124B-E41D-0D1C-3679-1F27031AA5E5}"/>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4C225A47-17E8-17DA-99F2-67D7DB04226A}"/>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EA3EEF0B-C7BE-2B86-8853-C4E810CA7C5F}"/>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17410" name="Picture 2">
            <a:extLst>
              <a:ext uri="{FF2B5EF4-FFF2-40B4-BE49-F238E27FC236}">
                <a16:creationId xmlns:a16="http://schemas.microsoft.com/office/drawing/2014/main" id="{1C2939C5-222D-6703-2318-9C73D379C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531" y="1447800"/>
            <a:ext cx="6687766" cy="4191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93AF6DF1-980B-DFAA-048D-28EBD15193B3}"/>
              </a:ext>
            </a:extLst>
          </p:cNvPr>
          <p:cNvSpPr>
            <a:spLocks noChangeArrowheads="1"/>
          </p:cNvSpPr>
          <p:nvPr/>
        </p:nvSpPr>
        <p:spPr bwMode="auto">
          <a:xfrm>
            <a:off x="7074297" y="2801034"/>
            <a:ext cx="47311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Yoğun geri alma, arama sorgularının ilgili sonuçlara yakın olacağı özelliğine dayanır.</a:t>
            </a:r>
          </a:p>
        </p:txBody>
      </p:sp>
    </p:spTree>
    <p:extLst>
      <p:ext uri="{BB962C8B-B14F-4D97-AF65-F5344CB8AC3E}">
        <p14:creationId xmlns:p14="http://schemas.microsoft.com/office/powerpoint/2010/main" val="3064100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7B74-DF19-366B-41AB-A31AC023D9D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C6CBD00-9D90-D27E-18D2-F7EC8D3EF83C}"/>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20D7A33A-5C90-E188-DE70-B0FB24BA19C0}"/>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EE28BF58-1676-D6FD-881D-AFFF53AC92A9}"/>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18434" name="Picture 2">
            <a:extLst>
              <a:ext uri="{FF2B5EF4-FFF2-40B4-BE49-F238E27FC236}">
                <a16:creationId xmlns:a16="http://schemas.microsoft.com/office/drawing/2014/main" id="{347B1975-37D3-85E3-2D9C-D6D9D41F67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10467549" cy="4099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080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9E9CA-4D25-4628-E8E6-14FE6829D8B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14AAF48-7BC6-C2A8-CCF8-E94DF1705725}"/>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5AD414A9-459D-D811-BE6F-7282CE684849}"/>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20E5A4FE-9175-7E79-AF7D-CEC32923B543}"/>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5" name="TextBox 4">
            <a:extLst>
              <a:ext uri="{FF2B5EF4-FFF2-40B4-BE49-F238E27FC236}">
                <a16:creationId xmlns:a16="http://schemas.microsoft.com/office/drawing/2014/main" id="{BF25FFE2-4D8B-04CD-34A7-C4DF35E9230B}"/>
              </a:ext>
            </a:extLst>
          </p:cNvPr>
          <p:cNvSpPr txBox="1"/>
          <p:nvPr/>
        </p:nvSpPr>
        <p:spPr>
          <a:xfrm>
            <a:off x="838200" y="1677271"/>
            <a:ext cx="9677400" cy="3416320"/>
          </a:xfrm>
          <a:prstGeom prst="rect">
            <a:avLst/>
          </a:prstGeom>
          <a:noFill/>
        </p:spPr>
        <p:txBody>
          <a:bodyPr wrap="square">
            <a:spAutoFit/>
          </a:bodyPr>
          <a:lstStyle/>
          <a:p>
            <a:r>
              <a:rPr lang="tr-TR" sz="3600" dirty="0"/>
              <a:t>Arama yapılabilir hale getirmek istediğimiz metni alıp, onu cümlelere ayırmak için hafif bir işleme tabi tutacağız.</a:t>
            </a:r>
          </a:p>
          <a:p>
            <a:pPr marL="285750" indent="-285750">
              <a:buFont typeface="Arial" panose="020B0604020202020204" pitchFamily="34" charset="0"/>
              <a:buChar char="•"/>
            </a:pPr>
            <a:r>
              <a:rPr lang="tr-TR" sz="3600" dirty="0"/>
              <a:t>Cümleleri gömeceğiz.</a:t>
            </a:r>
          </a:p>
          <a:p>
            <a:pPr marL="285750" indent="-285750">
              <a:buFont typeface="Arial" panose="020B0604020202020204" pitchFamily="34" charset="0"/>
              <a:buChar char="•"/>
            </a:pPr>
            <a:r>
              <a:rPr lang="tr-TR" sz="3600" dirty="0"/>
              <a:t>Arama dizinini oluşturacağız.</a:t>
            </a:r>
          </a:p>
          <a:p>
            <a:pPr marL="285750" indent="-285750">
              <a:buFont typeface="Arial" panose="020B0604020202020204" pitchFamily="34" charset="0"/>
              <a:buChar char="•"/>
            </a:pPr>
            <a:r>
              <a:rPr lang="tr-TR" sz="3600" dirty="0"/>
              <a:t>Arama yapıp sonuçları göreceğiz.</a:t>
            </a:r>
          </a:p>
        </p:txBody>
      </p:sp>
    </p:spTree>
    <p:extLst>
      <p:ext uri="{BB962C8B-B14F-4D97-AF65-F5344CB8AC3E}">
        <p14:creationId xmlns:p14="http://schemas.microsoft.com/office/powerpoint/2010/main" val="3989553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B7375-09C3-1356-8938-6D673725054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A522F4B-CB00-1A95-3C3C-2CE230444805}"/>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2AC682A8-2683-2520-6BAD-66DFD14176A0}"/>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9A66461D-B9D3-A18E-128C-4EC1254F3556}"/>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5" name="TextBox 4">
            <a:extLst>
              <a:ext uri="{FF2B5EF4-FFF2-40B4-BE49-F238E27FC236}">
                <a16:creationId xmlns:a16="http://schemas.microsoft.com/office/drawing/2014/main" id="{4777AA8E-B4BF-9EDC-669A-7B8CA2C20D9A}"/>
              </a:ext>
            </a:extLst>
          </p:cNvPr>
          <p:cNvSpPr txBox="1"/>
          <p:nvPr/>
        </p:nvSpPr>
        <p:spPr>
          <a:xfrm>
            <a:off x="838200" y="1677271"/>
            <a:ext cx="9677400" cy="3416320"/>
          </a:xfrm>
          <a:prstGeom prst="rect">
            <a:avLst/>
          </a:prstGeom>
          <a:noFill/>
        </p:spPr>
        <p:txBody>
          <a:bodyPr wrap="square">
            <a:spAutoFit/>
          </a:bodyPr>
          <a:lstStyle/>
          <a:p>
            <a:r>
              <a:rPr lang="tr-TR" sz="3600" dirty="0"/>
              <a:t>Arama yapılabilir hale getirmek istediğimiz metni alıp, onu cümlelere ayırmak için hafif bir işleme tabi tutacağız.</a:t>
            </a:r>
          </a:p>
          <a:p>
            <a:pPr marL="285750" indent="-285750">
              <a:buFont typeface="Arial" panose="020B0604020202020204" pitchFamily="34" charset="0"/>
              <a:buChar char="•"/>
            </a:pPr>
            <a:r>
              <a:rPr lang="tr-TR" sz="3600" dirty="0"/>
              <a:t>Cümleleri gömeceğiz.</a:t>
            </a:r>
          </a:p>
          <a:p>
            <a:pPr marL="285750" indent="-285750">
              <a:buFont typeface="Arial" panose="020B0604020202020204" pitchFamily="34" charset="0"/>
              <a:buChar char="•"/>
            </a:pPr>
            <a:r>
              <a:rPr lang="tr-TR" sz="3600" dirty="0"/>
              <a:t>Arama dizinini oluşturacağız.</a:t>
            </a:r>
          </a:p>
          <a:p>
            <a:pPr marL="285750" indent="-285750">
              <a:buFont typeface="Arial" panose="020B0604020202020204" pitchFamily="34" charset="0"/>
              <a:buChar char="•"/>
            </a:pPr>
            <a:r>
              <a:rPr lang="tr-TR" sz="3600" dirty="0"/>
              <a:t>Arama yapıp sonuçları göreceğiz.</a:t>
            </a:r>
          </a:p>
        </p:txBody>
      </p:sp>
    </p:spTree>
    <p:extLst>
      <p:ext uri="{BB962C8B-B14F-4D97-AF65-F5344CB8AC3E}">
        <p14:creationId xmlns:p14="http://schemas.microsoft.com/office/powerpoint/2010/main" val="1267388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D2F3-A70B-A2AA-BCCE-C76CBDBEF05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A1A2C48-2C9B-738E-9193-29FD46CFD69E}"/>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A1D468BC-6F6A-1040-E6C8-7974AFEF296B}"/>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29C53BBA-89BC-73B9-547C-83212490A873}"/>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19458" name="Picture 2">
            <a:extLst>
              <a:ext uri="{FF2B5EF4-FFF2-40B4-BE49-F238E27FC236}">
                <a16:creationId xmlns:a16="http://schemas.microsoft.com/office/drawing/2014/main" id="{FECD57CE-799C-3249-A5D7-F95E0B312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83087"/>
            <a:ext cx="929640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930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24D6-5354-0043-0AFA-E698F3A2C2C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639A394-7516-7DA5-4512-D4130EB02F7B}"/>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228C5B20-40F4-9CF5-87AB-E9BA809B7B3A}"/>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6D5A3E24-1E20-8B95-898C-7E2D140FCD85}"/>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0482" name="Picture 2">
            <a:extLst>
              <a:ext uri="{FF2B5EF4-FFF2-40B4-BE49-F238E27FC236}">
                <a16:creationId xmlns:a16="http://schemas.microsoft.com/office/drawing/2014/main" id="{DC300E0D-D054-2DDD-E99C-F34568231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090489"/>
            <a:ext cx="10058400" cy="4777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07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29E8-48DE-7549-9BA6-911294A0EFB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221D687-38B6-F00C-32DB-FDB6EA0824BD}"/>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DB905329-CFA6-5CDC-F089-3D40C2EAC8FF}"/>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A15CC22E-9BB8-638C-1B14-77C78CD99DE2}"/>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1506" name="Picture 2">
            <a:extLst>
              <a:ext uri="{FF2B5EF4-FFF2-40B4-BE49-F238E27FC236}">
                <a16:creationId xmlns:a16="http://schemas.microsoft.com/office/drawing/2014/main" id="{EEDC43BE-1A92-F8BB-3F92-23AB68362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10526323" cy="2315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959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D8EDC-47A1-C01F-B6DA-88714878069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E19BC77-64E2-019A-9B4C-921B096F6C39}"/>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086F3E56-A3B6-AAFF-4316-4220B7B44985}"/>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F5258245-B489-9332-1A41-A1EC11D66B16}"/>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2530" name="Picture 2">
            <a:extLst>
              <a:ext uri="{FF2B5EF4-FFF2-40B4-BE49-F238E27FC236}">
                <a16:creationId xmlns:a16="http://schemas.microsoft.com/office/drawing/2014/main" id="{DF1F3FC1-19EF-CD2F-FCF8-FC07B0098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28108"/>
            <a:ext cx="9437481" cy="5127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547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AAA2-C0BD-F3A1-E05E-078C70DF1CD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540E35B-C00D-4DFB-A9D6-E46459347EBC}"/>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84946838-29C5-79FC-2245-2DE5F191222F}"/>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DAA018E0-B38C-238C-2EB1-2B817B548F96}"/>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3554" name="Picture 2">
            <a:extLst>
              <a:ext uri="{FF2B5EF4-FFF2-40B4-BE49-F238E27FC236}">
                <a16:creationId xmlns:a16="http://schemas.microsoft.com/office/drawing/2014/main" id="{5D850583-F2C4-3213-72F9-0687E5C2B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77614"/>
            <a:ext cx="8305800" cy="5426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61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DCDFA-610C-E982-6018-0E172D3055E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C3205A0-803C-7ACC-125D-130C4FDAB345}"/>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35A1EEFD-ADE9-E112-682D-68D54C8E30E3}"/>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0A80175B-3276-7910-CA13-1A08E53A3823}"/>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4578" name="Picture 2">
            <a:extLst>
              <a:ext uri="{FF2B5EF4-FFF2-40B4-BE49-F238E27FC236}">
                <a16:creationId xmlns:a16="http://schemas.microsoft.com/office/drawing/2014/main" id="{7927A441-AA73-019D-CC16-8681FE840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90600"/>
            <a:ext cx="8458200" cy="5526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244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7533-4C45-498A-AA2B-07AB19C053C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B04FD02-2DD0-C60D-1ADB-66F4CD1CF4E9}"/>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583C8065-5A53-4F96-F817-F456C8C15E20}"/>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A8CC7957-52AE-45A3-3011-B01592CF2C22}"/>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5602" name="Picture 2">
            <a:extLst>
              <a:ext uri="{FF2B5EF4-FFF2-40B4-BE49-F238E27FC236}">
                <a16:creationId xmlns:a16="http://schemas.microsoft.com/office/drawing/2014/main" id="{C6F9C75B-DE2B-FEAA-499D-A6D1C7E56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9852788" cy="3612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9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0F39B-17DA-5D21-300C-9F341919F26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7FF75A6-F09A-B13F-1790-DD14EDF716FA}"/>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4D33CCBD-E537-A74E-54D5-606D9CA507C2}"/>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7D974F2B-D8DF-794A-3A7D-6110A4E357F8}"/>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6626" name="Picture 2">
            <a:extLst>
              <a:ext uri="{FF2B5EF4-FFF2-40B4-BE49-F238E27FC236}">
                <a16:creationId xmlns:a16="http://schemas.microsoft.com/office/drawing/2014/main" id="{A80347F2-A451-F0D4-4388-EB46DBDE4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214" y="1828800"/>
            <a:ext cx="10613571"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464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841BF-629E-18F8-D7D0-989A26AFDAE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2DCC8CC-E01C-81BD-D964-FB6A4F0A86BF}"/>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E07431AE-9DCA-A3E7-AB2A-A543D8EBB52F}"/>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BCD993F4-3EF2-1448-568E-9E5F62D42CE1}"/>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7650" name="Picture 2">
            <a:extLst>
              <a:ext uri="{FF2B5EF4-FFF2-40B4-BE49-F238E27FC236}">
                <a16:creationId xmlns:a16="http://schemas.microsoft.com/office/drawing/2014/main" id="{27AD7E44-022B-DE71-49A2-210C0ED662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24" y="1013772"/>
            <a:ext cx="7848600" cy="53893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1793617E-06BA-F3BA-FF3C-59C4D3FAC95F}"/>
              </a:ext>
            </a:extLst>
          </p:cNvPr>
          <p:cNvSpPr>
            <a:spLocks noChangeArrowheads="1"/>
          </p:cNvSpPr>
          <p:nvPr/>
        </p:nvSpPr>
        <p:spPr bwMode="auto">
          <a:xfrm>
            <a:off x="7992055" y="1689142"/>
            <a:ext cx="412953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Arama sistemlerini değerlendirmek için, arşivimizdeki hangi belgelerin her bir sorgu için alakalı olduğunu gösteren sorgular ve alaka derecesi değerlendirmelerini içeren bir test paketi gerekir.</a:t>
            </a:r>
          </a:p>
        </p:txBody>
      </p:sp>
    </p:spTree>
    <p:extLst>
      <p:ext uri="{BB962C8B-B14F-4D97-AF65-F5344CB8AC3E}">
        <p14:creationId xmlns:p14="http://schemas.microsoft.com/office/powerpoint/2010/main" val="2753403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B384-3D76-C1ED-7C5D-276070A8396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939D8B0-AD73-2019-D582-FE447F017946}"/>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BFCC7D8E-954B-E926-112C-F7CA4352A9C1}"/>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2034A26D-86D8-2259-9C6B-D9C284E3359A}"/>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8674" name="Picture 2">
            <a:extLst>
              <a:ext uri="{FF2B5EF4-FFF2-40B4-BE49-F238E27FC236}">
                <a16:creationId xmlns:a16="http://schemas.microsoft.com/office/drawing/2014/main" id="{F9ED2240-E509-A8F4-A569-72C13AB26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5715000" cy="36099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56D6256-4AED-5AAF-FD14-DCAD5BA57502}"/>
              </a:ext>
            </a:extLst>
          </p:cNvPr>
          <p:cNvSpPr>
            <a:spLocks noChangeArrowheads="1"/>
          </p:cNvSpPr>
          <p:nvPr/>
        </p:nvSpPr>
        <p:spPr bwMode="auto">
          <a:xfrm>
            <a:off x="685800" y="5331333"/>
            <a:ext cx="6705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İki arama sistemini karşılaştırmak için, test paketimizden aynı sorguyu her iki sisteme de gönderir ve en üstteki sonuçlara bakarız.</a:t>
            </a:r>
          </a:p>
        </p:txBody>
      </p:sp>
    </p:spTree>
    <p:extLst>
      <p:ext uri="{BB962C8B-B14F-4D97-AF65-F5344CB8AC3E}">
        <p14:creationId xmlns:p14="http://schemas.microsoft.com/office/powerpoint/2010/main" val="3973249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92777-2A3A-CB98-504F-2CA26DF7BA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BEBD1E0-E77B-2223-67FD-2C424A002047}"/>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59C8291B-C396-BCE4-748E-EB92A1ECD767}"/>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8DDD97BD-1668-8267-19D1-B95429165A55}"/>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29698" name="Picture 2">
            <a:extLst>
              <a:ext uri="{FF2B5EF4-FFF2-40B4-BE49-F238E27FC236}">
                <a16:creationId xmlns:a16="http://schemas.microsoft.com/office/drawing/2014/main" id="{5DA8401F-F3CB-0E0C-1C93-A8779D65B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126178"/>
            <a:ext cx="7599571" cy="47244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60A91575-8EB4-8B79-CE94-141A3FF9FE04}"/>
              </a:ext>
            </a:extLst>
          </p:cNvPr>
          <p:cNvSpPr>
            <a:spLocks noChangeArrowheads="1"/>
          </p:cNvSpPr>
          <p:nvPr/>
        </p:nvSpPr>
        <p:spPr bwMode="auto">
          <a:xfrm>
            <a:off x="8077200" y="1733716"/>
            <a:ext cx="31242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Test paketimizdeki alaka düzeyine ilişkin değerlendirmelere baktığımızda, sistem 1'in sistem 2'den daha iyi bir performans gösterdiğini görebiliriz.</a:t>
            </a:r>
          </a:p>
        </p:txBody>
      </p:sp>
    </p:spTree>
    <p:extLst>
      <p:ext uri="{BB962C8B-B14F-4D97-AF65-F5344CB8AC3E}">
        <p14:creationId xmlns:p14="http://schemas.microsoft.com/office/powerpoint/2010/main" val="4089061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61F1F-B290-8525-19CB-8B20CCC7742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E5F15C9-BA7A-CDD5-2580-F8E6F58A932B}"/>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5AF3137E-736F-DC40-D99B-440508FC3E19}"/>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DE6040D0-B4A3-A0C6-D176-78E62A44746E}"/>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0722" name="Picture 2">
            <a:extLst>
              <a:ext uri="{FF2B5EF4-FFF2-40B4-BE49-F238E27FC236}">
                <a16:creationId xmlns:a16="http://schemas.microsoft.com/office/drawing/2014/main" id="{515425BF-F6E6-7D60-64DF-57987EB9B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64" y="990600"/>
            <a:ext cx="7374535" cy="458450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E7201BC-EAD0-28ED-5572-C0F04E1EE731}"/>
              </a:ext>
            </a:extLst>
          </p:cNvPr>
          <p:cNvSpPr>
            <a:spLocks noChangeArrowheads="1"/>
          </p:cNvSpPr>
          <p:nvPr/>
        </p:nvSpPr>
        <p:spPr bwMode="auto">
          <a:xfrm>
            <a:off x="8077200" y="1447800"/>
            <a:ext cx="2362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Her iki sistem de ilk üç sonuçta yalnızca bir tane alakalı sonuç bulmuş olsa da, alakalı bir sonuca yüksek puan veren sistem 1'i ödüllendiren bir puanlama sistemine ihtiyacımız var.</a:t>
            </a:r>
          </a:p>
        </p:txBody>
      </p:sp>
    </p:spTree>
    <p:extLst>
      <p:ext uri="{BB962C8B-B14F-4D97-AF65-F5344CB8AC3E}">
        <p14:creationId xmlns:p14="http://schemas.microsoft.com/office/powerpoint/2010/main" val="2276147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1AC54-CAC9-EA6E-F0AA-FCE81CE07B8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8AF57C1-4826-E91E-E43C-D9A1C6F20AA5}"/>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F33F573F-A07E-5398-9339-5B7DB6BAB2E3}"/>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1ED76E3E-D841-A875-98F4-8D956A67FB87}"/>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1746" name="Picture 2">
            <a:extLst>
              <a:ext uri="{FF2B5EF4-FFF2-40B4-BE49-F238E27FC236}">
                <a16:creationId xmlns:a16="http://schemas.microsoft.com/office/drawing/2014/main" id="{4643FBB4-996F-1092-A39A-884296359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07" y="1120390"/>
            <a:ext cx="8166102" cy="375640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A56C3CFB-64C9-17CD-0276-F212C82CFDB7}"/>
              </a:ext>
            </a:extLst>
          </p:cNvPr>
          <p:cNvSpPr>
            <a:spLocks noChangeArrowheads="1"/>
          </p:cNvSpPr>
          <p:nvPr/>
        </p:nvSpPr>
        <p:spPr bwMode="auto">
          <a:xfrm>
            <a:off x="241607" y="5342228"/>
            <a:ext cx="73021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Ortalama hassasiyeti hesaplamak için, 1. konumdan başlayarak her konumdaki hassasiyeti hesaplayarak başlıyoruz.</a:t>
            </a:r>
          </a:p>
        </p:txBody>
      </p:sp>
    </p:spTree>
    <p:extLst>
      <p:ext uri="{BB962C8B-B14F-4D97-AF65-F5344CB8AC3E}">
        <p14:creationId xmlns:p14="http://schemas.microsoft.com/office/powerpoint/2010/main" val="3525460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FE61-26B4-322F-3F81-BBBE364DE37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5DEBF3A-5242-CC6F-2BAE-FA76C481D657}"/>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37F9E30B-C15E-7D77-2A1D-E53AA9D6FCAF}"/>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F0EA00C0-1D52-CDA3-EE25-B6D203A97C73}"/>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2770" name="Picture 2">
            <a:extLst>
              <a:ext uri="{FF2B5EF4-FFF2-40B4-BE49-F238E27FC236}">
                <a16:creationId xmlns:a16="http://schemas.microsoft.com/office/drawing/2014/main" id="{F23689C5-03AD-8C25-4DD7-A61E3D832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599" y="1110744"/>
            <a:ext cx="8639698" cy="414705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35E02EB-557B-0A95-D7E8-245CC46CA143}"/>
              </a:ext>
            </a:extLst>
          </p:cNvPr>
          <p:cNvSpPr>
            <a:spLocks noChangeArrowheads="1"/>
          </p:cNvSpPr>
          <p:nvPr/>
        </p:nvSpPr>
        <p:spPr bwMode="auto">
          <a:xfrm>
            <a:off x="214599" y="571253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Sistem, alakalı bir belgenin önüne alakasız belgeleri yerleştirirse, doğruluk puanı düşürülür.</a:t>
            </a:r>
          </a:p>
        </p:txBody>
      </p:sp>
    </p:spTree>
    <p:extLst>
      <p:ext uri="{BB962C8B-B14F-4D97-AF65-F5344CB8AC3E}">
        <p14:creationId xmlns:p14="http://schemas.microsoft.com/office/powerpoint/2010/main" val="2023193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A972B-9E41-9B37-DE9B-F4BD987ED64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09A6CC5-73DA-CB30-43F1-387D24144604}"/>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0B1ABF5D-8104-0549-BF10-13E21CA8D89D}"/>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512EDA7F-18D4-4116-A8FF-DCCCEB8EA512}"/>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3794" name="Picture 2">
            <a:extLst>
              <a:ext uri="{FF2B5EF4-FFF2-40B4-BE49-F238E27FC236}">
                <a16:creationId xmlns:a16="http://schemas.microsoft.com/office/drawing/2014/main" id="{2C543FF1-CFA4-660F-CD6E-93A862001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10210800" cy="46969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B4AF8C1F-C8CB-5F86-0628-7184BB32AB1F}"/>
              </a:ext>
            </a:extLst>
          </p:cNvPr>
          <p:cNvSpPr>
            <a:spLocks noChangeArrowheads="1"/>
          </p:cNvSpPr>
          <p:nvPr/>
        </p:nvSpPr>
        <p:spPr bwMode="auto">
          <a:xfrm>
            <a:off x="245465" y="61107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Birden fazla ilgili belge içeren bir belgenin ortalama kesinliği, tüm ilgili belgelerin k sonucundaki kesinliği dikkate alır.</a:t>
            </a:r>
          </a:p>
        </p:txBody>
      </p:sp>
    </p:spTree>
    <p:extLst>
      <p:ext uri="{BB962C8B-B14F-4D97-AF65-F5344CB8AC3E}">
        <p14:creationId xmlns:p14="http://schemas.microsoft.com/office/powerpoint/2010/main" val="3786210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21F43-506E-0278-46FF-BAFEAEF82BF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53F18E6-8D70-C402-83DC-85452180CA4A}"/>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a:t>Dil Modelleriyle Anlamsal Arama</a:t>
            </a:r>
            <a:endParaRPr sz="2800" dirty="0"/>
          </a:p>
        </p:txBody>
      </p:sp>
      <p:sp>
        <p:nvSpPr>
          <p:cNvPr id="4" name="object 4">
            <a:extLst>
              <a:ext uri="{FF2B5EF4-FFF2-40B4-BE49-F238E27FC236}">
                <a16:creationId xmlns:a16="http://schemas.microsoft.com/office/drawing/2014/main" id="{DC682045-173A-FA2B-CA4F-A07AD399F680}"/>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D6A33DA7-8CEE-6E8A-26D7-962AB80634F2}"/>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4818" name="Picture 2">
            <a:extLst>
              <a:ext uri="{FF2B5EF4-FFF2-40B4-BE49-F238E27FC236}">
                <a16:creationId xmlns:a16="http://schemas.microsoft.com/office/drawing/2014/main" id="{1F5510A6-B011-A01A-E2E4-3114E08A6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647" y="1129074"/>
            <a:ext cx="5816353" cy="29857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1D77598-BDC6-4635-FAEA-F7CEC2C6C566}"/>
              </a:ext>
            </a:extLst>
          </p:cNvPr>
          <p:cNvSpPr txBox="1"/>
          <p:nvPr/>
        </p:nvSpPr>
        <p:spPr>
          <a:xfrm>
            <a:off x="279646" y="4511231"/>
            <a:ext cx="10388353" cy="923330"/>
          </a:xfrm>
          <a:prstGeom prst="rect">
            <a:avLst/>
          </a:prstGeom>
          <a:noFill/>
        </p:spPr>
        <p:txBody>
          <a:bodyPr wrap="square">
            <a:spAutoFit/>
          </a:bodyPr>
          <a:lstStyle/>
          <a:p>
            <a:r>
              <a:rPr lang="tr-TR" dirty="0"/>
              <a:t>Ortalama </a:t>
            </a:r>
            <a:r>
              <a:rPr lang="tr-TR" dirty="0" err="1"/>
              <a:t>ortalama</a:t>
            </a:r>
            <a:r>
              <a:rPr lang="tr-TR" dirty="0"/>
              <a:t> hassasiyet, test paketindeki her sorgu için bir sistemin ortalama hassasiyet puanını dikkate alır. Bunların ortalamasını alarak, bir arama sistemini başka bir sistemle karşılaştırmak için kullanabileceğimiz tek bir metrik oluşturur.</a:t>
            </a:r>
          </a:p>
        </p:txBody>
      </p:sp>
    </p:spTree>
    <p:extLst>
      <p:ext uri="{BB962C8B-B14F-4D97-AF65-F5344CB8AC3E}">
        <p14:creationId xmlns:p14="http://schemas.microsoft.com/office/powerpoint/2010/main" val="2280094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E5E98-28CF-6DE4-5CEC-C6BC805ADAE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A8887B1-21B1-B5F0-541A-A663C03836AD}"/>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err="1"/>
              <a:t>Retrieval-Augmented</a:t>
            </a:r>
            <a:r>
              <a:rPr lang="tr-TR" sz="2800" spc="-10" dirty="0"/>
              <a:t> </a:t>
            </a:r>
            <a:r>
              <a:rPr lang="tr-TR" sz="2800" spc="-10" dirty="0" err="1"/>
              <a:t>Generation</a:t>
            </a:r>
            <a:r>
              <a:rPr lang="tr-TR" sz="2800" spc="-10" dirty="0"/>
              <a:t> (RAG)</a:t>
            </a:r>
            <a:endParaRPr sz="2800" dirty="0"/>
          </a:p>
        </p:txBody>
      </p:sp>
      <p:sp>
        <p:nvSpPr>
          <p:cNvPr id="4" name="object 4">
            <a:extLst>
              <a:ext uri="{FF2B5EF4-FFF2-40B4-BE49-F238E27FC236}">
                <a16:creationId xmlns:a16="http://schemas.microsoft.com/office/drawing/2014/main" id="{BE319C9A-E869-056D-F12E-924C44BC7E88}"/>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C1DD8091-9240-2E3B-64B8-F51ACBBEB7FD}"/>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sp>
        <p:nvSpPr>
          <p:cNvPr id="2" name="Rectangle 1">
            <a:extLst>
              <a:ext uri="{FF2B5EF4-FFF2-40B4-BE49-F238E27FC236}">
                <a16:creationId xmlns:a16="http://schemas.microsoft.com/office/drawing/2014/main" id="{587C22BC-97A8-3C1C-E7AB-6DBA553EAE9B}"/>
              </a:ext>
            </a:extLst>
          </p:cNvPr>
          <p:cNvSpPr>
            <a:spLocks noChangeArrowheads="1"/>
          </p:cNvSpPr>
          <p:nvPr/>
        </p:nvSpPr>
        <p:spPr bwMode="auto">
          <a:xfrm>
            <a:off x="6346883" y="1088935"/>
            <a:ext cx="57912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LLM'lerin kitlesel olarak benimsenmesi, insanların onlara sorular sormasına ve gerçeklere dayalı cevaplar beklemesine neden oldu. Modeller bazı soruları doğru cevaplayabilse de, birçok soruyu da kendinden emin bir şekilde yanlış cevaplıyor. Sektörün bu davranışı düzeltmek için başvurduğu başlıca yöntem, “Retrieval-Augmented Generation for Knowledge-Intensive NLP Tasks” (2020)1 adlı makalede açıklanan ve Şekil 8-24'te gösterilen RAG'dir.</a:t>
            </a:r>
          </a:p>
        </p:txBody>
      </p:sp>
      <p:pic>
        <p:nvPicPr>
          <p:cNvPr id="35843" name="Picture 3">
            <a:extLst>
              <a:ext uri="{FF2B5EF4-FFF2-40B4-BE49-F238E27FC236}">
                <a16:creationId xmlns:a16="http://schemas.microsoft.com/office/drawing/2014/main" id="{E8906997-B122-2E81-8F7A-4AA1BB8B6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612" y="3881704"/>
            <a:ext cx="8722587" cy="2791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688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7B27-D132-5F3A-149D-B1964BE774B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3BC3134-317C-BE1F-F584-1B0E36FEDC45}"/>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err="1"/>
              <a:t>Retrieval-Augmented</a:t>
            </a:r>
            <a:r>
              <a:rPr lang="tr-TR" sz="2800" spc="-10" dirty="0"/>
              <a:t> </a:t>
            </a:r>
            <a:r>
              <a:rPr lang="tr-TR" sz="2800" spc="-10" dirty="0" err="1"/>
              <a:t>Generation</a:t>
            </a:r>
            <a:r>
              <a:rPr lang="tr-TR" sz="2800" spc="-10" dirty="0"/>
              <a:t> (RAG)</a:t>
            </a:r>
            <a:endParaRPr sz="2800" dirty="0"/>
          </a:p>
        </p:txBody>
      </p:sp>
      <p:sp>
        <p:nvSpPr>
          <p:cNvPr id="4" name="object 4">
            <a:extLst>
              <a:ext uri="{FF2B5EF4-FFF2-40B4-BE49-F238E27FC236}">
                <a16:creationId xmlns:a16="http://schemas.microsoft.com/office/drawing/2014/main" id="{735ED680-5392-4052-21E5-34F7FB4A1840}"/>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57B0C1DA-372A-CFAC-6562-EC7BBDE9492E}"/>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6866" name="Picture 2">
            <a:extLst>
              <a:ext uri="{FF2B5EF4-FFF2-40B4-BE49-F238E27FC236}">
                <a16:creationId xmlns:a16="http://schemas.microsoft.com/office/drawing/2014/main" id="{D3119591-59CB-0B77-A57F-CC1AFF9B0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90600"/>
            <a:ext cx="7428268" cy="47045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EF73DC7-3FC9-B158-EFDD-EBB075FC04DF}"/>
              </a:ext>
            </a:extLst>
          </p:cNvPr>
          <p:cNvSpPr>
            <a:spLocks noChangeArrowheads="1"/>
          </p:cNvSpPr>
          <p:nvPr/>
        </p:nvSpPr>
        <p:spPr bwMode="auto">
          <a:xfrm>
            <a:off x="7802287" y="1865557"/>
            <a:ext cx="41148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Üretken arama, arama sürecinin sonunda cevapları ve özetleri formüle ederken kaynaklarını da belirtir (arama sistemindeki önceki adımlarda elde edilen sonuçlar).</a:t>
            </a:r>
          </a:p>
        </p:txBody>
      </p:sp>
    </p:spTree>
    <p:extLst>
      <p:ext uri="{BB962C8B-B14F-4D97-AF65-F5344CB8AC3E}">
        <p14:creationId xmlns:p14="http://schemas.microsoft.com/office/powerpoint/2010/main" val="815474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9FEC-F12D-5ECF-090B-630AC0CFB9A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3B18E5F-679B-666C-E60C-69C19E5A9551}"/>
              </a:ext>
            </a:extLst>
          </p:cNvPr>
          <p:cNvSpPr txBox="1">
            <a:spLocks noGrp="1"/>
          </p:cNvSpPr>
          <p:nvPr>
            <p:ph type="title"/>
          </p:nvPr>
        </p:nvSpPr>
        <p:spPr>
          <a:xfrm>
            <a:off x="245465" y="185068"/>
            <a:ext cx="11696700" cy="443070"/>
          </a:xfrm>
          <a:prstGeom prst="rect">
            <a:avLst/>
          </a:prstGeom>
        </p:spPr>
        <p:txBody>
          <a:bodyPr vert="horz" wrap="square" lIns="0" tIns="12065" rIns="0" bIns="0" rtlCol="0">
            <a:spAutoFit/>
          </a:bodyPr>
          <a:lstStyle/>
          <a:p>
            <a:pPr marL="12700">
              <a:lnSpc>
                <a:spcPct val="100000"/>
              </a:lnSpc>
              <a:spcBef>
                <a:spcPts val="95"/>
              </a:spcBef>
            </a:pPr>
            <a:r>
              <a:rPr lang="tr-TR" sz="2800" spc="-10" dirty="0" err="1"/>
              <a:t>Retrieval-Augmented</a:t>
            </a:r>
            <a:r>
              <a:rPr lang="tr-TR" sz="2800" spc="-10" dirty="0"/>
              <a:t> </a:t>
            </a:r>
            <a:r>
              <a:rPr lang="tr-TR" sz="2800" spc="-10" dirty="0" err="1"/>
              <a:t>Generation</a:t>
            </a:r>
            <a:r>
              <a:rPr lang="tr-TR" sz="2800" spc="-10" dirty="0"/>
              <a:t> (RAG)</a:t>
            </a:r>
            <a:endParaRPr sz="2800" dirty="0"/>
          </a:p>
        </p:txBody>
      </p:sp>
      <p:sp>
        <p:nvSpPr>
          <p:cNvPr id="4" name="object 4">
            <a:extLst>
              <a:ext uri="{FF2B5EF4-FFF2-40B4-BE49-F238E27FC236}">
                <a16:creationId xmlns:a16="http://schemas.microsoft.com/office/drawing/2014/main" id="{FC69761B-1C92-2FB7-FF63-6B0A8B5E679F}"/>
              </a:ext>
            </a:extLst>
          </p:cNvPr>
          <p:cNvSpPr txBox="1"/>
          <p:nvPr/>
        </p:nvSpPr>
        <p:spPr>
          <a:xfrm>
            <a:off x="12010135" y="649538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3</a:t>
            </a:r>
            <a:endParaRPr sz="1200">
              <a:latin typeface="Calibri"/>
              <a:cs typeface="Calibri"/>
            </a:endParaRPr>
          </a:p>
        </p:txBody>
      </p:sp>
      <p:sp>
        <p:nvSpPr>
          <p:cNvPr id="6" name="object 6">
            <a:extLst>
              <a:ext uri="{FF2B5EF4-FFF2-40B4-BE49-F238E27FC236}">
                <a16:creationId xmlns:a16="http://schemas.microsoft.com/office/drawing/2014/main" id="{9CAF4DF0-6874-E28E-650A-56B789D81ECC}"/>
              </a:ext>
            </a:extLst>
          </p:cNvPr>
          <p:cNvSpPr/>
          <p:nvPr/>
        </p:nvSpPr>
        <p:spPr>
          <a:xfrm>
            <a:off x="761" y="869441"/>
            <a:ext cx="12192000" cy="0"/>
          </a:xfrm>
          <a:custGeom>
            <a:avLst/>
            <a:gdLst/>
            <a:ahLst/>
            <a:cxnLst/>
            <a:rect l="l" t="t" r="r" b="b"/>
            <a:pathLst>
              <a:path w="12192000">
                <a:moveTo>
                  <a:pt x="0" y="0"/>
                </a:moveTo>
                <a:lnTo>
                  <a:pt x="12192000" y="0"/>
                </a:lnTo>
              </a:path>
            </a:pathLst>
          </a:custGeom>
          <a:ln w="25400">
            <a:solidFill>
              <a:srgbClr val="FFFFFF"/>
            </a:solidFill>
          </a:ln>
        </p:spPr>
        <p:txBody>
          <a:bodyPr wrap="square" lIns="0" tIns="0" rIns="0" bIns="0" rtlCol="0"/>
          <a:lstStyle/>
          <a:p>
            <a:endParaRPr/>
          </a:p>
        </p:txBody>
      </p:sp>
      <p:pic>
        <p:nvPicPr>
          <p:cNvPr id="37890" name="Picture 2">
            <a:extLst>
              <a:ext uri="{FF2B5EF4-FFF2-40B4-BE49-F238E27FC236}">
                <a16:creationId xmlns:a16="http://schemas.microsoft.com/office/drawing/2014/main" id="{3F68FED5-09A3-AEA1-A74D-F681E270C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66" y="1091454"/>
            <a:ext cx="8263026" cy="29471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974EF04A-02F5-8AF2-DB24-1EFDF44F69E3}"/>
              </a:ext>
            </a:extLst>
          </p:cNvPr>
          <p:cNvSpPr>
            <a:spLocks noChangeArrowheads="1"/>
          </p:cNvSpPr>
          <p:nvPr/>
        </p:nvSpPr>
        <p:spPr bwMode="auto">
          <a:xfrm>
            <a:off x="344091" y="4419600"/>
            <a:ext cx="7772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a:ln>
                  <a:noFill/>
                </a:ln>
                <a:solidFill>
                  <a:schemeClr val="tx1"/>
                </a:solidFill>
                <a:effectLst/>
                <a:latin typeface="Arial" panose="020B0604020202020204" pitchFamily="34" charset="0"/>
              </a:rPr>
              <a:t>Gömme öğeler arasındaki benzerlikleri karşılaştırarak, bir giriş istemine en uygun bilgileri bulun. En uygun bilgiler, LLM'ye verilmeden önce istemine eklenir.</a:t>
            </a:r>
          </a:p>
        </p:txBody>
      </p:sp>
    </p:spTree>
    <p:extLst>
      <p:ext uri="{BB962C8B-B14F-4D97-AF65-F5344CB8AC3E}">
        <p14:creationId xmlns:p14="http://schemas.microsoft.com/office/powerpoint/2010/main" val="1195517024"/>
      </p:ext>
    </p:extLst>
  </p:cSld>
  <p:clrMapOvr>
    <a:masterClrMapping/>
  </p:clrMapOvr>
</p:sld>
</file>

<file path=ppt/theme/theme1.xml><?xml version="1.0" encoding="utf-8"?>
<a:theme xmlns:a="http://schemas.openxmlformats.org/drawingml/2006/main" name="Dilim">
  <a:themeElements>
    <a:clrScheme name="Dilim">
      <a:dk1>
        <a:sysClr val="windowText" lastClr="000000"/>
      </a:dk1>
      <a:lt1>
        <a:sysClr val="window" lastClr="FFFFFF"/>
      </a:lt1>
      <a:dk2>
        <a:srgbClr val="AD2E03"/>
      </a:dk2>
      <a:lt2>
        <a:srgbClr val="D75626"/>
      </a:lt2>
      <a:accent1>
        <a:srgbClr val="760603"/>
      </a:accent1>
      <a:accent2>
        <a:srgbClr val="FA9C1F"/>
      </a:accent2>
      <a:accent3>
        <a:srgbClr val="D9BB55"/>
      </a:accent3>
      <a:accent4>
        <a:srgbClr val="829551"/>
      </a:accent4>
      <a:accent5>
        <a:srgbClr val="58A28B"/>
      </a:accent5>
      <a:accent6>
        <a:srgbClr val="426480"/>
      </a:accent6>
      <a:hlink>
        <a:srgbClr val="460402"/>
      </a:hlink>
      <a:folHlink>
        <a:srgbClr val="991111"/>
      </a:folHlink>
    </a:clrScheme>
    <a:fontScheme name="Dilim">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lim">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42000"/>
                <a:satMod val="200000"/>
                <a:lumMod val="118000"/>
              </a:schemeClr>
            </a:gs>
            <a:gs pos="100000">
              <a:schemeClr val="phClr">
                <a:shade val="94000"/>
                <a:hueMod val="22000"/>
                <a:satMod val="220000"/>
                <a:lumMod val="6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903AAAE-3EA5-424A-B142-CC51DC1F897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1591</TotalTime>
  <Words>925</Words>
  <Application>Microsoft Office PowerPoint</Application>
  <PresentationFormat>Widescreen</PresentationFormat>
  <Paragraphs>106</Paragraphs>
  <Slides>31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Arial</vt:lpstr>
      <vt:lpstr>Calibri</vt:lpstr>
      <vt:lpstr>Cambria</vt:lpstr>
      <vt:lpstr>Century Gothic</vt:lpstr>
      <vt:lpstr>Wingdings 3</vt:lpstr>
      <vt:lpstr>Dilim</vt:lpstr>
      <vt:lpstr>Anlamsal Arama ve Geri Getirme ile Güçlendirilmiş Üretim (Semantic Search and Retrieval-Augmented Generation)</vt:lpstr>
      <vt:lpstr>Büyük dil modelleri</vt:lpstr>
      <vt:lpstr>Anlamsal Arama ve Geri Getirme ile Güçlendirilmiş Üretim</vt:lpstr>
      <vt:lpstr>Anlamsal Arama ve Geri Getirme ile Güçlendirilmiş Üretim</vt:lpstr>
      <vt:lpstr>Anlamsal Arama ve Geri Getirme ile Güçlendirilmiş Üretim </vt:lpstr>
      <vt:lpstr>Anlamsal Arama ve Geri Getirme ile Güçlendirilmiş Üretim </vt:lpstr>
      <vt:lpstr>Anlamsal Arama ve Geri Getirme ile Güçlendirilmiş Üretim </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Dil Modelleriyle Anlamsal Arama</vt:lpstr>
      <vt:lpstr>Retrieval-Augmented Generation (RAG)</vt:lpstr>
      <vt:lpstr>Retrieval-Augmented Generation (RAG)</vt:lpstr>
      <vt:lpstr>Retrieval-Augmented Generation (RAG)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LEA</dc:creator>
  <cp:lastModifiedBy>k127a</cp:lastModifiedBy>
  <cp:revision>139</cp:revision>
  <dcterms:created xsi:type="dcterms:W3CDTF">2024-09-06T11:48:08Z</dcterms:created>
  <dcterms:modified xsi:type="dcterms:W3CDTF">2025-11-24T14:25:34Z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2022-02-26T00:00:00Z</vt:filetime>
  </property>
  <property fmtid="{D5CDD505-2E9C-101B-9397-08002B2CF9AE}" pid="3" name="Creator">
    <vt:lpwstr>Microsoft® PowerPoint® for Microsoft 365</vt:lpwstr>
  </property>
  <property fmtid="{D5CDD505-2E9C-101B-9397-08002B2CF9AE}" pid="4" name="LastSaved">
    <vt:filetime>2024-09-06T00:00:00Z</vt:filetime>
  </property>
</Properties>
</file>