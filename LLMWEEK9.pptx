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6" r:id="rId1"/>
  </p:sldMasterIdLst>
  <p:notesMasterIdLst>
    <p:notesMasterId r:id="rId21"/>
  </p:notesMasterIdLst>
  <p:sldIdLst>
    <p:sldId id="256" r:id="rId2"/>
    <p:sldId id="258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914" autoAdjust="0"/>
  </p:normalViewPr>
  <p:slideViewPr>
    <p:cSldViewPr>
      <p:cViewPr varScale="1">
        <p:scale>
          <a:sx n="83" d="100"/>
          <a:sy n="83" d="100"/>
        </p:scale>
        <p:origin x="1638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2E477-B70C-4632-8391-C527C9281309}" type="datetimeFigureOut">
              <a:rPr lang="tr-TR" smtClean="0"/>
              <a:t>1.12.2025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C21EC2-CB17-468B-A2FC-B7715AAA317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8015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2035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05409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94823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24106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3565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8085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26798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70749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19835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89024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42061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9697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029774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ıntı 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4020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ğru veya Yanlı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522254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646253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38467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533059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18229" y="611914"/>
            <a:ext cx="4919980" cy="96244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3650"/>
              </a:lnSpc>
            </a:pPr>
            <a:r>
              <a:rPr lang="tr-TR" sz="3200" b="1" dirty="0">
                <a:solidFill>
                  <a:srgbClr val="FFFFFF"/>
                </a:solidFill>
                <a:latin typeface="Cambria"/>
                <a:cs typeface="Cambria"/>
              </a:rPr>
              <a:t>YZM423</a:t>
            </a:r>
          </a:p>
          <a:p>
            <a:pPr algn="ctr">
              <a:lnSpc>
                <a:spcPts val="3650"/>
              </a:lnSpc>
            </a:pPr>
            <a:r>
              <a:rPr lang="tr-TR" sz="3200" b="1" dirty="0">
                <a:solidFill>
                  <a:srgbClr val="FFFFFF"/>
                </a:solidFill>
                <a:latin typeface="Cambria"/>
                <a:cs typeface="Cambria"/>
              </a:rPr>
              <a:t>BÜYÜK DİL MODELLERİ</a:t>
            </a:r>
            <a:endParaRPr sz="32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81200" y="2226724"/>
            <a:ext cx="8610600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da-DK" sz="4800" spc="-10" dirty="0"/>
              <a:t>Çok Modlu Büyük D</a:t>
            </a:r>
            <a:r>
              <a:rPr lang="tr-TR" sz="4800" spc="-10" dirty="0"/>
              <a:t>İ</a:t>
            </a:r>
            <a:r>
              <a:rPr lang="da-DK" sz="4800" spc="-10" dirty="0"/>
              <a:t>l Modeller</a:t>
            </a:r>
            <a:r>
              <a:rPr lang="tr-TR" sz="4800" spc="-10" dirty="0"/>
              <a:t>I</a:t>
            </a:r>
            <a:endParaRPr sz="4800" dirty="0"/>
          </a:p>
        </p:txBody>
      </p:sp>
      <p:sp>
        <p:nvSpPr>
          <p:cNvPr id="5" name="object 5"/>
          <p:cNvSpPr txBox="1">
            <a:spLocks noGrp="1"/>
          </p:cNvSpPr>
          <p:nvPr>
            <p:ph idx="1"/>
          </p:nvPr>
        </p:nvSpPr>
        <p:spPr>
          <a:xfrm>
            <a:off x="2860040" y="4876800"/>
            <a:ext cx="6436359" cy="88806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130"/>
              </a:spcBef>
            </a:pPr>
            <a:r>
              <a:rPr lang="tr-TR" b="1" spc="-10" dirty="0" err="1">
                <a:solidFill>
                  <a:srgbClr val="FFFFFF"/>
                </a:solidFill>
              </a:rPr>
              <a:t>Dr.Öğr.Üyesi</a:t>
            </a:r>
            <a:r>
              <a:rPr lang="tr-TR" b="1" spc="-10" dirty="0">
                <a:solidFill>
                  <a:srgbClr val="FFFFFF"/>
                </a:solidFill>
              </a:rPr>
              <a:t> Murat ŞİMŞEK</a:t>
            </a:r>
          </a:p>
          <a:p>
            <a:pPr marL="1905" algn="ctr">
              <a:lnSpc>
                <a:spcPct val="100000"/>
              </a:lnSpc>
              <a:spcBef>
                <a:spcPts val="1130"/>
              </a:spcBef>
            </a:pPr>
            <a:r>
              <a:rPr lang="tr-TR" b="1" spc="-10" dirty="0">
                <a:solidFill>
                  <a:srgbClr val="FFFFFF"/>
                </a:solidFill>
                <a:latin typeface="Cambria"/>
                <a:cs typeface="Cambria"/>
              </a:rPr>
              <a:t>Ostim Teknik Üniversitesi</a:t>
            </a:r>
            <a:endParaRPr b="1" dirty="0">
              <a:solidFill>
                <a:srgbClr val="FFFFFF"/>
              </a:solidFill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978640" y="6567902"/>
            <a:ext cx="160655" cy="20447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mbria"/>
                <a:cs typeface="Cambria"/>
              </a:rPr>
              <a:t>1</a:t>
            </a:fld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5465" y="123512"/>
            <a:ext cx="116967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pc="-5" dirty="0"/>
              <a:t>Büyük dil modelleri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390057-CC85-15F9-3264-A7A47F997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371600"/>
            <a:ext cx="6858000" cy="47905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D4213-52B0-7C7E-F9F9-5258170AF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1178808-70EB-D023-B344-BC3F5193A8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5" y="123512"/>
            <a:ext cx="116967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da-DK" spc="-10" dirty="0"/>
              <a:t>Çok Modlu Büyük Dil Modelleri</a:t>
            </a:r>
            <a:endParaRPr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7C42EDE-C351-7D64-E3C1-0C42FED91653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47CFD1C-846C-7C2C-4EE0-F93730C9A3D9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65C0AEFC-BAE4-7DF6-2E12-F57F5A4C3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143000"/>
            <a:ext cx="7699237" cy="3592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05016308-7A87-2D5B-584C-08B778547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465" y="5114835"/>
            <a:ext cx="7162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Görüntü, ses, video veya sensörler gibi farklı türlerdeki (veya modalitelerdeki) verileri işleyebilen modeller, multimodal olarak adlandırılır. Bir model, bir modaliteyi girdi olarak kabul edebilir, ancak o modalitede çıktı üretemeyebilir.</a:t>
            </a:r>
          </a:p>
        </p:txBody>
      </p:sp>
    </p:spTree>
    <p:extLst>
      <p:ext uri="{BB962C8B-B14F-4D97-AF65-F5344CB8AC3E}">
        <p14:creationId xmlns:p14="http://schemas.microsoft.com/office/powerpoint/2010/main" val="4033204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08865-C715-4F59-342D-8E71FFF2E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F427AFF-78FC-4921-8F16-BCB8E3E261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4" y="-79003"/>
            <a:ext cx="11946535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z="2800" spc="-10" dirty="0"/>
              <a:t>Görme için Dönüştürücüler</a:t>
            </a:r>
            <a:br>
              <a:rPr lang="tr-TR" sz="2800" spc="-10" dirty="0"/>
            </a:br>
            <a:r>
              <a:rPr lang="tr-TR" sz="2800" spc="-10" dirty="0"/>
              <a:t>(</a:t>
            </a:r>
            <a:r>
              <a:rPr lang="tr-TR" sz="2800" spc="-10" dirty="0" err="1"/>
              <a:t>transformers</a:t>
            </a:r>
            <a:r>
              <a:rPr lang="tr-TR" sz="2800" spc="-10" dirty="0"/>
              <a:t> </a:t>
            </a:r>
            <a:r>
              <a:rPr lang="tr-TR" sz="2800" spc="-10" dirty="0" err="1"/>
              <a:t>for</a:t>
            </a:r>
            <a:r>
              <a:rPr lang="tr-TR" sz="2800" spc="-10" dirty="0"/>
              <a:t> </a:t>
            </a:r>
            <a:r>
              <a:rPr lang="tr-TR" sz="2800" spc="-10" dirty="0" err="1"/>
              <a:t>vısıon</a:t>
            </a:r>
            <a:r>
              <a:rPr lang="tr-TR" sz="2800" spc="-10" dirty="0"/>
              <a:t>)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33E9DF3-08B4-71C0-560E-894940772324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CE4C222-0250-C55C-1A59-E5DB58EE4883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65C7089-035E-DF4A-89FB-8BB2AF74F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703" y="2996139"/>
            <a:ext cx="633329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Araştırmacıların geliştirdiği yöntem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Transformer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olarak adlandırılır ve önceki varsayılan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evrişimli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sinir ağlarına (CNN) kıyasla görüntü tanıma görevlerinde son derece başarılı olduğu gösterilmiştir.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tr-TR" altLang="tr-TR" dirty="0">
              <a:latin typeface="Arial" panose="020B0604020202020204" pitchFamily="34" charset="0"/>
            </a:endParaRPr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37F57789-5D99-0936-29AA-12D193CE1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2456" y="1864994"/>
            <a:ext cx="5167069" cy="3358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6085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F6378-5ED4-6B15-9891-5854F5A9E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24A67BB-0A99-906E-784B-75200E6DF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4" y="-79003"/>
            <a:ext cx="11946535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z="2800" spc="-10" dirty="0"/>
              <a:t>Görme için Dönüştürücüler</a:t>
            </a:r>
            <a:br>
              <a:rPr lang="tr-TR" sz="2800" spc="-10" dirty="0"/>
            </a:br>
            <a:r>
              <a:rPr lang="tr-TR" sz="2800" spc="-10" dirty="0"/>
              <a:t>(</a:t>
            </a:r>
            <a:r>
              <a:rPr lang="tr-TR" sz="2800" spc="-10" dirty="0" err="1"/>
              <a:t>transformers</a:t>
            </a:r>
            <a:r>
              <a:rPr lang="tr-TR" sz="2800" spc="-10" dirty="0"/>
              <a:t> </a:t>
            </a:r>
            <a:r>
              <a:rPr lang="tr-TR" sz="2800" spc="-10" dirty="0" err="1"/>
              <a:t>for</a:t>
            </a:r>
            <a:r>
              <a:rPr lang="tr-TR" sz="2800" spc="-10" dirty="0"/>
              <a:t> </a:t>
            </a:r>
            <a:r>
              <a:rPr lang="tr-TR" sz="2800" spc="-10" dirty="0" err="1"/>
              <a:t>vısıon</a:t>
            </a:r>
            <a:r>
              <a:rPr lang="tr-TR" sz="2800" spc="-10" dirty="0"/>
              <a:t>)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8B079D4-AFC2-6EDB-C474-943D126F533F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9FA2AE6-C9D5-C01F-A6F2-718A157C8597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619CE64-1FF6-C80A-68AD-8A358F24A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142999"/>
            <a:ext cx="9279536" cy="1979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7817F5-54E5-8F3D-2D00-D3335C2905C4}"/>
              </a:ext>
            </a:extLst>
          </p:cNvPr>
          <p:cNvSpPr txBox="1"/>
          <p:nvPr/>
        </p:nvSpPr>
        <p:spPr>
          <a:xfrm>
            <a:off x="1278536" y="4191000"/>
            <a:ext cx="853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Görüntü girişi için “</a:t>
            </a:r>
            <a:r>
              <a:rPr lang="tr-TR" dirty="0" err="1"/>
              <a:t>tokenleştirme</a:t>
            </a:r>
            <a:r>
              <a:rPr lang="tr-TR" dirty="0"/>
              <a:t>” işlemi. Bir görüntüyü alt görüntü parçalarına dönüştürür.</a:t>
            </a:r>
          </a:p>
        </p:txBody>
      </p:sp>
    </p:spTree>
    <p:extLst>
      <p:ext uri="{BB962C8B-B14F-4D97-AF65-F5344CB8AC3E}">
        <p14:creationId xmlns:p14="http://schemas.microsoft.com/office/powerpoint/2010/main" val="3000798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79C56-7AF0-2501-7316-36E80789A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3C97356-2526-D8D4-AA84-50CEB3958C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4" y="-79003"/>
            <a:ext cx="11946535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z="2800" spc="-10" dirty="0"/>
              <a:t>Görme için Dönüştürücüler</a:t>
            </a:r>
            <a:br>
              <a:rPr lang="tr-TR" sz="2800" spc="-10" dirty="0"/>
            </a:br>
            <a:r>
              <a:rPr lang="tr-TR" sz="2800" spc="-10" dirty="0"/>
              <a:t>(</a:t>
            </a:r>
            <a:r>
              <a:rPr lang="tr-TR" sz="2800" spc="-10" dirty="0" err="1"/>
              <a:t>transformers</a:t>
            </a:r>
            <a:r>
              <a:rPr lang="tr-TR" sz="2800" spc="-10" dirty="0"/>
              <a:t> </a:t>
            </a:r>
            <a:r>
              <a:rPr lang="tr-TR" sz="2800" spc="-10" dirty="0" err="1"/>
              <a:t>for</a:t>
            </a:r>
            <a:r>
              <a:rPr lang="tr-TR" sz="2800" spc="-10" dirty="0"/>
              <a:t> </a:t>
            </a:r>
            <a:r>
              <a:rPr lang="tr-TR" sz="2800" spc="-10" dirty="0" err="1"/>
              <a:t>vısıon</a:t>
            </a:r>
            <a:r>
              <a:rPr lang="tr-TR" sz="2800" spc="-10" dirty="0"/>
              <a:t>)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D73EB28-7D53-4DDD-7BB1-A6593EE3BAD7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31886BD-6803-CD09-1DC3-A9FD27C8F867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C05638E-2C34-A46A-4409-D8BADFF35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809" y="1287023"/>
            <a:ext cx="5715000" cy="469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04256E-8F03-EB6B-A2F3-311CAB25D3EA}"/>
              </a:ext>
            </a:extLst>
          </p:cNvPr>
          <p:cNvSpPr txBox="1"/>
          <p:nvPr/>
        </p:nvSpPr>
        <p:spPr>
          <a:xfrm>
            <a:off x="6400800" y="1454848"/>
            <a:ext cx="449387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 err="1"/>
              <a:t>ViT'nin</a:t>
            </a:r>
            <a:r>
              <a:rPr lang="tr-TR" dirty="0"/>
              <a:t> arkasındaki ana algoritma. Görüntüleri yamadıktan ve doğrusal olarak yansıttıktan sonra, yama gömülüleri kodlayıcıya aktarılır ve metinsel belirteçlermiş gibi işlenir.</a:t>
            </a:r>
          </a:p>
        </p:txBody>
      </p:sp>
    </p:spTree>
    <p:extLst>
      <p:ext uri="{BB962C8B-B14F-4D97-AF65-F5344CB8AC3E}">
        <p14:creationId xmlns:p14="http://schemas.microsoft.com/office/powerpoint/2010/main" val="1658287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491F9-FD9F-BF3A-EE97-5D44F91B4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FACB9F5-F7F3-43F6-836E-BF9F12E0D9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4" y="136440"/>
            <a:ext cx="1194653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z="2800" spc="-10" dirty="0"/>
              <a:t>Çok Modlu Gömme Modeller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983095D-5F9C-D284-0C27-C405B05BEC9B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9199B5B-1A3F-1950-B46E-7EEBF0B58E67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5F5923F-2256-FB1C-C342-412A2EC53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455987"/>
            <a:ext cx="7398797" cy="394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ADC45B-3835-AF2A-90FF-F3AD54349200}"/>
              </a:ext>
            </a:extLst>
          </p:cNvPr>
          <p:cNvSpPr txBox="1"/>
          <p:nvPr/>
        </p:nvSpPr>
        <p:spPr>
          <a:xfrm>
            <a:off x="7696200" y="2192154"/>
            <a:ext cx="41128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Çok modlu gömme modelleri, aynı vektör uzayında birden fazla modalite için gömmeler oluşturabilir.</a:t>
            </a:r>
          </a:p>
        </p:txBody>
      </p:sp>
    </p:spTree>
    <p:extLst>
      <p:ext uri="{BB962C8B-B14F-4D97-AF65-F5344CB8AC3E}">
        <p14:creationId xmlns:p14="http://schemas.microsoft.com/office/powerpoint/2010/main" val="1727871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5FAE2-2181-5F37-3346-7DC87A6E9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F0A53FC-B39D-8D40-93AB-F0079F1C9F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4" y="136440"/>
            <a:ext cx="1194653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z="2800" spc="-10" dirty="0"/>
              <a:t>Çok Modlu Gömme Modeller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5F6499F-05A9-C0A6-122A-C177AE855C5E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7F94F7B-FE7F-55EA-F22D-8A5D03ABA40A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855260DC-D321-A10D-E16F-902876CF5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41687"/>
            <a:ext cx="7302553" cy="4174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D64C5D-18C2-01E1-0F73-57A178CFEBF1}"/>
              </a:ext>
            </a:extLst>
          </p:cNvPr>
          <p:cNvSpPr txBox="1"/>
          <p:nvPr/>
        </p:nvSpPr>
        <p:spPr>
          <a:xfrm>
            <a:off x="7507146" y="2362200"/>
            <a:ext cx="46462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Farklı modalitelerden gelmelerine rağmen, benzer anlamlara sahip gömüler vektör uzayında birbirine yakın olacaktır.</a:t>
            </a:r>
          </a:p>
        </p:txBody>
      </p:sp>
    </p:spTree>
    <p:extLst>
      <p:ext uri="{BB962C8B-B14F-4D97-AF65-F5344CB8AC3E}">
        <p14:creationId xmlns:p14="http://schemas.microsoft.com/office/powerpoint/2010/main" val="1609726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D8361-4914-DD49-D6BC-147A0566F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DBAEAD4-8165-C7A1-01A8-5BF429063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4" y="-79003"/>
            <a:ext cx="11946535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spc="-10" dirty="0"/>
              <a:t>CLIP: Connecting Text and Images</a:t>
            </a:r>
            <a:r>
              <a:rPr lang="tr-TR" sz="2800" spc="-10" dirty="0"/>
              <a:t> Metin ve görüntü birleştirme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D096CF3-BDDB-69B2-CFD8-B1B69CDA1F7F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44A67B8-4041-ECF7-9D6A-A4F8A2262D5F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D7C3E7-F538-41D7-B90B-358B6542291E}"/>
              </a:ext>
            </a:extLst>
          </p:cNvPr>
          <p:cNvSpPr txBox="1"/>
          <p:nvPr/>
        </p:nvSpPr>
        <p:spPr>
          <a:xfrm>
            <a:off x="457200" y="1371600"/>
            <a:ext cx="112776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CLIP, hem görüntülerin hem de metinlerin gömülü modellerini hesaplayabilen bir gömme modelidir.</a:t>
            </a:r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Sıfır atış sınıflandırma</a:t>
            </a:r>
          </a:p>
          <a:p>
            <a:r>
              <a:rPr lang="tr-TR" dirty="0"/>
              <a:t>Bir görüntünün gömülmesini, olası sınıflarının açıklamalarıyla karşılaştırarak hangi sınıfın en benzer olduğunu bulabiliriz.</a:t>
            </a:r>
          </a:p>
          <a:p>
            <a:endParaRPr lang="tr-TR" dirty="0"/>
          </a:p>
          <a:p>
            <a:r>
              <a:rPr lang="tr-TR" dirty="0"/>
              <a:t>Kümeleme</a:t>
            </a:r>
          </a:p>
          <a:p>
            <a:r>
              <a:rPr lang="tr-TR" dirty="0"/>
              <a:t>Görüntüleri ve anahtar kelime koleksiyonunu kümeleyerek, hangi anahtar kelimelerin hangi görüntü kümelerine ait olduğunu bulabiliriz.</a:t>
            </a:r>
          </a:p>
          <a:p>
            <a:endParaRPr lang="tr-TR" dirty="0"/>
          </a:p>
          <a:p>
            <a:r>
              <a:rPr lang="tr-TR" dirty="0"/>
              <a:t>Arama</a:t>
            </a:r>
          </a:p>
          <a:p>
            <a:r>
              <a:rPr lang="tr-TR" dirty="0"/>
              <a:t>Milyarlarca metin veya görüntü arasında, girdi metni veya görüntüyle ilgili olanları hızlı bir şekilde bulabiliriz.</a:t>
            </a:r>
          </a:p>
          <a:p>
            <a:endParaRPr lang="tr-TR" dirty="0"/>
          </a:p>
          <a:p>
            <a:r>
              <a:rPr lang="tr-TR" dirty="0"/>
              <a:t>Üretim</a:t>
            </a:r>
          </a:p>
          <a:p>
            <a:r>
              <a:rPr lang="tr-TR" dirty="0"/>
              <a:t>Görüntülerin üretimini sağlamak için çok modlu gömmeleri kullanın (ör. kararlı difüzyon4).</a:t>
            </a:r>
          </a:p>
          <a:p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42024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78125-D012-836A-2E3D-47DD7D314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6BD0CF4-2BF7-44D0-9458-3328012232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4" y="-79003"/>
            <a:ext cx="11946535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spc="-10" dirty="0"/>
              <a:t>CLIP: Connecting Text and Images</a:t>
            </a:r>
            <a:r>
              <a:rPr lang="tr-TR" sz="2800" spc="-10" dirty="0"/>
              <a:t> Metin ve görüntü birleştirme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78887C2-0B0A-B633-8FB3-7EE493268167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82FFFBB-8DA4-8757-7BB5-AF3F79536380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A61B66F4-1E6C-23F8-9136-DAB9AA1E3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433" y="1148764"/>
            <a:ext cx="10471658" cy="4642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45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B28A4-146E-12AC-9B8C-A45F84B8A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AD9A17A-74AA-823E-E9FF-BA755AC536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4" y="-79003"/>
            <a:ext cx="11946535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spc="-10" dirty="0"/>
              <a:t>CLIP: Connecting Text and Images</a:t>
            </a:r>
            <a:r>
              <a:rPr lang="tr-TR" sz="2800" spc="-10" dirty="0"/>
              <a:t> Metin ve görüntü birleştirme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5553CFD-2B1C-9368-1A72-7592ED9D194B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60CE99F-3A55-B08B-C94B-4ACA0F1D0C80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310BADC-37FD-0007-78E3-F5F5BCD6B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12494"/>
            <a:ext cx="10058400" cy="5282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8512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40D73-02B2-7CE7-25A4-850548EE5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1007AF8-F5D9-56E7-F350-4EBD59CB85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4" y="-79003"/>
            <a:ext cx="11946535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spc="-10" dirty="0"/>
              <a:t>CLIP: Connecting Text and Images</a:t>
            </a:r>
            <a:r>
              <a:rPr lang="tr-TR" sz="2800" spc="-10" dirty="0"/>
              <a:t> Metin ve görüntü birleştirme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D01D2DE-714C-664A-6FDE-936FAE17E76D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389DCFB-C884-9485-10E3-FE17C70DD0B6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050748E2-2D4E-5784-1107-DAC7DE580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331088"/>
            <a:ext cx="9152681" cy="459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3690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4077B-4962-D20B-8C0E-ACBD2D10E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C1BF1F7-0262-BCA0-652D-8D5ADB19B0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4" y="136440"/>
            <a:ext cx="1194653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tr-TR" sz="2800" spc="-10" dirty="0"/>
              <a:t>Üretim Modellerini Çok Modlu Hale Getirmek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D4F15FE-B471-D0EA-6B19-EEF15106AD7A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59773EB-E079-B9CD-6469-54AD5FB00FA1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FEC69AC8-472A-4B6F-2D04-C5176763A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159373"/>
            <a:ext cx="7086600" cy="4984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6809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164B5-215B-D121-94D4-56CDF1276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F715989-5BE5-717B-604B-687DB7B17E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4" y="136440"/>
            <a:ext cx="1194653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spc="-10" dirty="0"/>
              <a:t>BLIP-2: Bridging the Modality Gap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D0F085A-2192-315F-A70F-9A141DA8831F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F251952-F3FB-3752-A299-D9036E54A029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C2ED1AE6-A7D5-41B7-6435-684BEB175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99" y="1687508"/>
            <a:ext cx="9413263" cy="2808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0376E8-2547-242A-71D3-EBC5F88CBC69}"/>
              </a:ext>
            </a:extLst>
          </p:cNvPr>
          <p:cNvSpPr txBox="1"/>
          <p:nvPr/>
        </p:nvSpPr>
        <p:spPr>
          <a:xfrm>
            <a:off x="1143000" y="5039186"/>
            <a:ext cx="8610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Sorgulama Dönüştürücü, görüntü (</a:t>
            </a:r>
            <a:r>
              <a:rPr lang="tr-TR" dirty="0" err="1"/>
              <a:t>ViT</a:t>
            </a:r>
            <a:r>
              <a:rPr lang="tr-TR" dirty="0"/>
              <a:t>) ve metin (LLM) arasında köprü görevi gören ve boru hattının tek eğitilebilir bileşenidir.</a:t>
            </a:r>
          </a:p>
        </p:txBody>
      </p:sp>
    </p:spTree>
    <p:extLst>
      <p:ext uri="{BB962C8B-B14F-4D97-AF65-F5344CB8AC3E}">
        <p14:creationId xmlns:p14="http://schemas.microsoft.com/office/powerpoint/2010/main" val="365555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A2F8A-3990-9963-49DC-1A6ED64A1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D21C4FD-6B42-A0DD-CF65-9F8D03F1EB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4" y="136440"/>
            <a:ext cx="1194653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spc="-10" dirty="0"/>
              <a:t>BLIP-2: Bridging the Modality Gap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309A402-762D-FC3E-7C23-78B942C96591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EBCA46C-7E3A-245F-5F41-E6ED0606B4D3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F6C32C72-6108-9099-0FE8-E05CCCCAA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078" y="1248136"/>
            <a:ext cx="10795322" cy="4174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5280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5CAF4-4159-4C03-FEE7-F08E0FBA3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6C48F0-90F5-6D50-A83D-A652F3824F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4" y="136440"/>
            <a:ext cx="1194653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spc="-10" dirty="0"/>
              <a:t>BLIP-2: Bridging the Modality Gap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7CA161A-0A13-F37B-F3AE-1695ECFD50B6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7BA39EE-AF4F-8F8F-8F96-0DF4E910A766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054BAEDD-8841-24FC-7E28-79714C9AA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141046"/>
            <a:ext cx="10363200" cy="4853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538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3CFA1-650F-768E-6503-04E0ECE76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699FC5F-D148-60DF-8785-D077835F2F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4" y="136440"/>
            <a:ext cx="1194653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spc="-10" dirty="0"/>
              <a:t>BLIP-2: Bridging the Modality Gap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7F2BE9F-6059-47FC-2C8D-9E5C0FEA2A66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D65BFBC-9977-6C4C-3064-832C0E01F3ED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A6969F3C-00A7-1388-BD8A-65C887AB0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80" y="1193132"/>
            <a:ext cx="10522120" cy="4927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8982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2F2EC-3201-3DB3-C7FC-BD8BC3855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A73732C-6608-282B-FBE1-C057AC37FF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4" y="136440"/>
            <a:ext cx="1194653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spc="-10" dirty="0"/>
              <a:t>BLIP-2: Bridging the Modality Gap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26FD2D0-C5CE-DF92-C8BE-52B90E34D1CE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AB76FA9-A56B-53F2-C9D2-C356E29F0A9B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C39C9B28-EB1B-F831-201C-3967D4785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43100"/>
            <a:ext cx="9905997" cy="2971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351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AA255-1710-8D38-8FD5-32098973E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353F666-B4A3-1D25-0680-FA5899DAA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464" y="136440"/>
            <a:ext cx="1194653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spc="-10" dirty="0"/>
              <a:t>BLIP-2: Bridging the Modality Gap</a:t>
            </a:r>
            <a:endParaRPr sz="2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DEC0F19-3913-5D5A-58D3-B459B18F68F4}"/>
              </a:ext>
            </a:extLst>
          </p:cNvPr>
          <p:cNvSpPr txBox="1"/>
          <p:nvPr/>
        </p:nvSpPr>
        <p:spPr>
          <a:xfrm>
            <a:off x="12010135" y="64953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D346A83-9844-6168-B593-FBB10C393DC5}"/>
              </a:ext>
            </a:extLst>
          </p:cNvPr>
          <p:cNvSpPr/>
          <p:nvPr/>
        </p:nvSpPr>
        <p:spPr>
          <a:xfrm>
            <a:off x="761" y="86944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898ED54C-5FE4-6E72-28E9-B72B0EF54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082958"/>
            <a:ext cx="8839200" cy="5406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1968060"/>
      </p:ext>
    </p:extLst>
  </p:cSld>
  <p:clrMapOvr>
    <a:masterClrMapping/>
  </p:clrMapOvr>
</p:sld>
</file>

<file path=ppt/theme/theme1.xml><?xml version="1.0" encoding="utf-8"?>
<a:theme xmlns:a="http://schemas.openxmlformats.org/drawingml/2006/main" name="Dilim">
  <a:themeElements>
    <a:clrScheme name="Dilim">
      <a:dk1>
        <a:sysClr val="windowText" lastClr="000000"/>
      </a:dk1>
      <a:lt1>
        <a:sysClr val="window" lastClr="FFFFFF"/>
      </a:lt1>
      <a:dk2>
        <a:srgbClr val="AD2E03"/>
      </a:dk2>
      <a:lt2>
        <a:srgbClr val="D75626"/>
      </a:lt2>
      <a:accent1>
        <a:srgbClr val="760603"/>
      </a:accent1>
      <a:accent2>
        <a:srgbClr val="FA9C1F"/>
      </a:accent2>
      <a:accent3>
        <a:srgbClr val="D9BB55"/>
      </a:accent3>
      <a:accent4>
        <a:srgbClr val="829551"/>
      </a:accent4>
      <a:accent5>
        <a:srgbClr val="58A28B"/>
      </a:accent5>
      <a:accent6>
        <a:srgbClr val="426480"/>
      </a:accent6>
      <a:hlink>
        <a:srgbClr val="460402"/>
      </a:hlink>
      <a:folHlink>
        <a:srgbClr val="991111"/>
      </a:folHlink>
    </a:clrScheme>
    <a:fontScheme name="Dilim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lim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4000"/>
                <a:hueMod val="22000"/>
                <a:satMod val="220000"/>
                <a:lumMod val="6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903AAAE-3EA5-424A-B142-CC51DC1F897D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1279</TotalTime>
  <Words>407</Words>
  <Application>Microsoft Office PowerPoint</Application>
  <PresentationFormat>Widescreen</PresentationFormat>
  <Paragraphs>63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Arial</vt:lpstr>
      <vt:lpstr>Calibri</vt:lpstr>
      <vt:lpstr>Cambria</vt:lpstr>
      <vt:lpstr>Century Gothic</vt:lpstr>
      <vt:lpstr>Wingdings 3</vt:lpstr>
      <vt:lpstr>Dilim</vt:lpstr>
      <vt:lpstr>Çok Modlu Büyük Dİl ModellerI</vt:lpstr>
      <vt:lpstr>Büyük dil modelleri</vt:lpstr>
      <vt:lpstr>Çok Modlu Büyük Dil Modelleri</vt:lpstr>
      <vt:lpstr>Görme için Dönüştürücüler (transformers for vısıon)</vt:lpstr>
      <vt:lpstr>Görme için Dönüştürücüler (transformers for vısıon)</vt:lpstr>
      <vt:lpstr>Görme için Dönüştürücüler (transformers for vısıon)</vt:lpstr>
      <vt:lpstr>Çok Modlu Gömme Modeller</vt:lpstr>
      <vt:lpstr>Çok Modlu Gömme Modeller</vt:lpstr>
      <vt:lpstr>CLIP: Connecting Text and Images Metin ve görüntü birleştirme</vt:lpstr>
      <vt:lpstr>CLIP: Connecting Text and Images Metin ve görüntü birleştirme</vt:lpstr>
      <vt:lpstr>CLIP: Connecting Text and Images Metin ve görüntü birleştirme</vt:lpstr>
      <vt:lpstr>CLIP: Connecting Text and Images Metin ve görüntü birleştirme</vt:lpstr>
      <vt:lpstr>Üretim Modellerini Çok Modlu Hale Getirmek</vt:lpstr>
      <vt:lpstr>BLIP-2: Bridging the Modality Gap</vt:lpstr>
      <vt:lpstr>BLIP-2: Bridging the Modality Gap</vt:lpstr>
      <vt:lpstr>BLIP-2: Bridging the Modality Gap</vt:lpstr>
      <vt:lpstr>BLIP-2: Bridging the Modality Gap</vt:lpstr>
      <vt:lpstr>BLIP-2: Bridging the Modality Gap</vt:lpstr>
      <vt:lpstr>BLIP-2: Bridging the Modality Gap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LEA</dc:creator>
  <cp:lastModifiedBy>k127a</cp:lastModifiedBy>
  <cp:revision>122</cp:revision>
  <dcterms:created xsi:type="dcterms:W3CDTF">2024-09-06T11:48:08Z</dcterms:created>
  <dcterms:modified xsi:type="dcterms:W3CDTF">2025-12-01T14:05:54Z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2022-02-26T00:00:00Z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2024-09-06T00:00:00Z</vt:filetime>
  </property>
</Properties>
</file>