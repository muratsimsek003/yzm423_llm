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6" r:id="rId1"/>
  </p:sldMasterIdLst>
  <p:notesMasterIdLst>
    <p:notesMasterId r:id="rId24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73" r:id="rId19"/>
    <p:sldId id="275" r:id="rId20"/>
    <p:sldId id="276" r:id="rId21"/>
    <p:sldId id="277" r:id="rId22"/>
    <p:sldId id="278" r:id="rId23"/>
  </p:sldIdLst>
  <p:sldSz cx="12192000" cy="6858000"/>
  <p:notesSz cx="12192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4914" autoAdjust="0"/>
  </p:normalViewPr>
  <p:slideViewPr>
    <p:cSldViewPr>
      <p:cViewPr varScale="1">
        <p:scale>
          <a:sx n="83" d="100"/>
          <a:sy n="83" d="100"/>
        </p:scale>
        <p:origin x="1638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12E477-B70C-4632-8391-C527C9281309}" type="datetimeFigureOut">
              <a:rPr lang="tr-TR" smtClean="0"/>
              <a:t>24.11.2025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C21EC2-CB17-468B-A2FC-B7715AAA317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8015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err="1"/>
              <a:t>LLM'lerin</a:t>
            </a:r>
            <a:r>
              <a:rPr lang="tr-TR" dirty="0"/>
              <a:t> yeteneklerini genişletmek için </a:t>
            </a:r>
            <a:r>
              <a:rPr lang="tr-TR" dirty="0" err="1"/>
              <a:t>LangChain'in</a:t>
            </a:r>
            <a:r>
              <a:rPr lang="tr-TR" dirty="0"/>
              <a:t> özelliklerinden yararlanmadan önce,</a:t>
            </a:r>
          </a:p>
          <a:p>
            <a:r>
              <a:rPr lang="tr-TR" dirty="0" err="1"/>
              <a:t>LLM'imizi</a:t>
            </a:r>
            <a:r>
              <a:rPr lang="tr-TR" dirty="0"/>
              <a:t> yüklememiz gerekir. Önceki bölümlerde olduğu gibi,</a:t>
            </a:r>
          </a:p>
          <a:p>
            <a:r>
              <a:rPr lang="tr-TR" dirty="0"/>
              <a:t>Phi-3'ü kullanacağız, ancak bir değişiklik yapacağız; bunun yerine bir GGUF model varyantı</a:t>
            </a:r>
          </a:p>
          <a:p>
            <a:r>
              <a:rPr lang="tr-TR" dirty="0"/>
              <a:t>kullanacağız. GGUF modeli, bir </a:t>
            </a:r>
            <a:r>
              <a:rPr lang="tr-TR" dirty="0" err="1"/>
              <a:t>LLM'nin</a:t>
            </a:r>
            <a:r>
              <a:rPr lang="tr-TR" dirty="0"/>
              <a:t> parametrelerini temsil etmek için gereken bit sayısını azaltan</a:t>
            </a:r>
          </a:p>
          <a:p>
            <a:r>
              <a:rPr lang="tr-TR" dirty="0" err="1"/>
              <a:t>kuantizasyon</a:t>
            </a:r>
            <a:r>
              <a:rPr lang="tr-TR" dirty="0"/>
              <a:t> adı verilen bir yöntemle orijinal modelin sıkıştırılmış bir versiyonunu temsil eder.</a:t>
            </a:r>
          </a:p>
          <a:p>
            <a:r>
              <a:rPr lang="tr-TR" dirty="0"/>
              <a:t>0 ve 1'lerden oluşan bitler, değerleri ikili</a:t>
            </a:r>
          </a:p>
          <a:p>
            <a:r>
              <a:rPr lang="tr-TR" dirty="0"/>
              <a:t>biçimde kodlayarak temsil eder. Daha fazla bit, daha geniş bir değer aralığı sağlar, ancak bu değerleri depolamak için daha fazla bellek</a:t>
            </a:r>
          </a:p>
          <a:p>
            <a:r>
              <a:rPr lang="tr-TR" dirty="0"/>
              <a:t>gerektirir (Şekil 7-2'de gösterildiği gibi).</a:t>
            </a:r>
          </a:p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21EC2-CB17-468B-A2FC-B7715AAA317B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56462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AC5A2-4495-0137-8CB5-90A7ABC3C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ADD7DE-BEEA-2EDC-346F-5596C272EB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D2E108-222A-F22A-7F7F-E8D1C24064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err="1"/>
              <a:t>Kuantizasyon</a:t>
            </a:r>
            <a:r>
              <a:rPr lang="tr-TR" dirty="0"/>
              <a:t>, orijinal bilgilerin çoğunu korumaya çalışırken bir </a:t>
            </a:r>
            <a:r>
              <a:rPr lang="tr-TR" dirty="0" err="1"/>
              <a:t>LLM'nin</a:t>
            </a:r>
            <a:r>
              <a:rPr lang="tr-TR" dirty="0"/>
              <a:t> parametrelerini temsil etmek için gereken bit sayısını </a:t>
            </a:r>
            <a:r>
              <a:rPr lang="tr-TR" dirty="0" err="1"/>
              <a:t>azaltır.Bu</a:t>
            </a:r>
            <a:r>
              <a:rPr lang="tr-TR" dirty="0"/>
              <a:t>, hassasiyette bir miktar kayıp ile birlikte gelir, ancak modelin çalışması çok daha hızlı olduğu, daha az VRAM gerektirdiği ve genellikle orijinal kadar doğru olduğu için bunu telafi </a:t>
            </a:r>
            <a:r>
              <a:rPr lang="tr-TR" dirty="0" err="1"/>
              <a:t>eder.Kuantizasyonu</a:t>
            </a:r>
            <a:r>
              <a:rPr lang="tr-TR" dirty="0"/>
              <a:t> açıklamak için şu benzetmeyi ele alalım. Saatin kaç olduğunu sorulduğunda, “14:16” diyebilirsiniz, bu doğru ama tam olarak kesin bir cevap değildir.“14:16” </a:t>
            </a:r>
            <a:r>
              <a:rPr lang="tr-TR" dirty="0" err="1"/>
              <a:t>diyebilirdiniz.Kuantizasyonu</a:t>
            </a:r>
            <a:r>
              <a:rPr lang="tr-TR" dirty="0"/>
              <a:t> açıklamak için şu benzetmeyi düşünün. Saatin kaç olduğunu sorulduğunda,“14:16” diyebilirsiniz, bu doğru ama tam olarak kesin bir cevap değildir. Bunun yerine“14:16 ve 12 saniye” diyebilirdiniz, bu daha kesin bir cevap </a:t>
            </a:r>
            <a:r>
              <a:rPr lang="tr-TR" dirty="0" err="1"/>
              <a:t>olurdu.Ancak</a:t>
            </a:r>
            <a:r>
              <a:rPr lang="tr-TR" dirty="0"/>
              <a:t> saniyeleri belirtmek nadiren yararlıdır </a:t>
            </a:r>
            <a:r>
              <a:rPr lang="tr-TR" dirty="0" err="1"/>
              <a:t>vegenellikle</a:t>
            </a:r>
            <a:r>
              <a:rPr lang="tr-TR" dirty="0"/>
              <a:t> bunu ayrı sayılarla, yani tam dakikalarda ifade </a:t>
            </a:r>
            <a:r>
              <a:rPr lang="tr-TR" dirty="0" err="1"/>
              <a:t>ederiz.Kuantizasyon</a:t>
            </a:r>
            <a:r>
              <a:rPr lang="tr-TR" dirty="0"/>
              <a:t>, önemli bilgileri kaldırmadan (örneğin saatleri ve dakikaları koruyarak) bir değerin doğruluğunu azaltan (örneğin saniyeleri kaldırarak) benzer bir </a:t>
            </a:r>
            <a:r>
              <a:rPr lang="tr-TR" dirty="0" err="1"/>
              <a:t>işlemdir.Kuantizasyon</a:t>
            </a:r>
            <a:r>
              <a:rPr lang="tr-TR" dirty="0"/>
              <a:t>, bir değeri tam sayılara yuvarlamakla </a:t>
            </a:r>
            <a:r>
              <a:rPr lang="tr-TR" dirty="0" err="1"/>
              <a:t>benzerdir.Kuantizasyon</a:t>
            </a:r>
            <a:r>
              <a:rPr lang="tr-TR" dirty="0"/>
              <a:t>, bir değeri tam sayılara yuvarlamakla benzerdir.</a:t>
            </a:r>
          </a:p>
          <a:p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3E0A86-E75F-0EFE-568E-E5BE8F8302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21EC2-CB17-468B-A2FC-B7715AAA317B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898728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22D82-C9F2-74DA-8D8D-D613A7820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93D822-DC2B-436B-BF1C-B65E029250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1D1C1F-164E-4DA2-8353-F9A20CEF38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err="1"/>
              <a:t>Kuantizasyon</a:t>
            </a:r>
            <a:r>
              <a:rPr lang="tr-TR" dirty="0"/>
              <a:t>, orijinal bilgilerin çoğunu korumaya çalışırken bir </a:t>
            </a:r>
            <a:r>
              <a:rPr lang="tr-TR" dirty="0" err="1"/>
              <a:t>LLM'nin</a:t>
            </a:r>
            <a:r>
              <a:rPr lang="tr-TR" dirty="0"/>
              <a:t> parametrelerini temsil etmek için gereken bit sayısını </a:t>
            </a:r>
            <a:r>
              <a:rPr lang="tr-TR" dirty="0" err="1"/>
              <a:t>azaltır.Bu</a:t>
            </a:r>
            <a:r>
              <a:rPr lang="tr-TR" dirty="0"/>
              <a:t>, hassasiyette bir miktar kayıp ile birlikte gelir, ancak modelin çalışması çok daha hızlı olduğu, daha az VRAM gerektirdiği ve genellikle orijinal kadar doğru olduğu için bunu telafi </a:t>
            </a:r>
            <a:r>
              <a:rPr lang="tr-TR" dirty="0" err="1"/>
              <a:t>eder.Kuantizasyonu</a:t>
            </a:r>
            <a:r>
              <a:rPr lang="tr-TR" dirty="0"/>
              <a:t> açıklamak için şu benzetmeyi ele alalım. Saatin kaç olduğunu sorulduğunda, “14:16” diyebilirsiniz, bu doğru ama tam olarak kesin bir cevap değildir.“14:16” </a:t>
            </a:r>
            <a:r>
              <a:rPr lang="tr-TR" dirty="0" err="1"/>
              <a:t>diyebilirdiniz.Kuantizasyonu</a:t>
            </a:r>
            <a:r>
              <a:rPr lang="tr-TR" dirty="0"/>
              <a:t> açıklamak için şu benzetmeyi düşünün. Saatin kaç olduğunu sorulduğunda,“14:16” diyebilirsiniz, bu doğru ama tam olarak kesin bir cevap değildir. Bunun yerine“14:16 ve 12 saniye” diyebilirdiniz, bu daha kesin bir cevap </a:t>
            </a:r>
            <a:r>
              <a:rPr lang="tr-TR" dirty="0" err="1"/>
              <a:t>olurdu.Ancak</a:t>
            </a:r>
            <a:r>
              <a:rPr lang="tr-TR" dirty="0"/>
              <a:t> saniyeleri belirtmek nadiren yararlıdır </a:t>
            </a:r>
            <a:r>
              <a:rPr lang="tr-TR" dirty="0" err="1"/>
              <a:t>vegenellikle</a:t>
            </a:r>
            <a:r>
              <a:rPr lang="tr-TR" dirty="0"/>
              <a:t> bunu ayrı sayılarla, yani tam dakikalarda ifade </a:t>
            </a:r>
            <a:r>
              <a:rPr lang="tr-TR" dirty="0" err="1"/>
              <a:t>ederiz.Kuantizasyon</a:t>
            </a:r>
            <a:r>
              <a:rPr lang="tr-TR" dirty="0"/>
              <a:t>, önemli bilgileri kaldırmadan (örneğin saatleri ve dakikaları koruyarak) bir değerin doğruluğunu azaltan (örneğin saniyeleri kaldırarak) benzer bir </a:t>
            </a:r>
            <a:r>
              <a:rPr lang="tr-TR" dirty="0" err="1"/>
              <a:t>işlemdir.Kuantizasyon</a:t>
            </a:r>
            <a:r>
              <a:rPr lang="tr-TR" dirty="0"/>
              <a:t>, bir değeri tam sayılara yuvarlamakla </a:t>
            </a:r>
            <a:r>
              <a:rPr lang="tr-TR" dirty="0" err="1"/>
              <a:t>benzerdir.Kuantizasyon</a:t>
            </a:r>
            <a:r>
              <a:rPr lang="tr-TR" dirty="0"/>
              <a:t>, bir değeri tam sayılara yuvarlamakla benzerdir.</a:t>
            </a:r>
          </a:p>
          <a:p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5D413D-93EB-D04E-781E-48FE7583CE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21EC2-CB17-468B-A2FC-B7715AAA317B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312030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58F75-B591-91E7-021A-7EA5BA6B1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E370CB-EA76-92CB-CAF7-7E69EE9346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5FC220-5743-FF1D-789F-FFF61370DA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err="1"/>
              <a:t>Kuantizasyon</a:t>
            </a:r>
            <a:r>
              <a:rPr lang="tr-TR" dirty="0"/>
              <a:t>, orijinal bilgilerin çoğunu korumaya çalışırken bir </a:t>
            </a:r>
            <a:r>
              <a:rPr lang="tr-TR" dirty="0" err="1"/>
              <a:t>LLM'nin</a:t>
            </a:r>
            <a:r>
              <a:rPr lang="tr-TR" dirty="0"/>
              <a:t> parametrelerini temsil etmek için gereken bit sayısını </a:t>
            </a:r>
            <a:r>
              <a:rPr lang="tr-TR" dirty="0" err="1"/>
              <a:t>azaltır.Bu</a:t>
            </a:r>
            <a:r>
              <a:rPr lang="tr-TR" dirty="0"/>
              <a:t>, hassasiyette bir miktar kayıp ile birlikte gelir, ancak modelin çalışması çok daha hızlı olduğu, daha az VRAM gerektirdiği ve genellikle orijinal kadar doğru olduğu için bunu telafi </a:t>
            </a:r>
            <a:r>
              <a:rPr lang="tr-TR" dirty="0" err="1"/>
              <a:t>eder.Kuantizasyonu</a:t>
            </a:r>
            <a:r>
              <a:rPr lang="tr-TR" dirty="0"/>
              <a:t> açıklamak için şu benzetmeyi ele alalım. Saatin kaç olduğunu sorulduğunda, “14:16” diyebilirsiniz, bu doğru ama tam olarak kesin bir cevap değildir.“14:16” </a:t>
            </a:r>
            <a:r>
              <a:rPr lang="tr-TR" dirty="0" err="1"/>
              <a:t>diyebilirdiniz.Kuantizasyonu</a:t>
            </a:r>
            <a:r>
              <a:rPr lang="tr-TR" dirty="0"/>
              <a:t> açıklamak için şu benzetmeyi düşünün. Saatin kaç olduğunu sorulduğunda,“14:16” diyebilirsiniz, bu doğru ama tam olarak kesin bir cevap değildir. Bunun yerine“14:16 ve 12 saniye” diyebilirdiniz, bu daha kesin bir cevap </a:t>
            </a:r>
            <a:r>
              <a:rPr lang="tr-TR" dirty="0" err="1"/>
              <a:t>olurdu.Ancak</a:t>
            </a:r>
            <a:r>
              <a:rPr lang="tr-TR" dirty="0"/>
              <a:t> saniyeleri belirtmek nadiren yararlıdır </a:t>
            </a:r>
            <a:r>
              <a:rPr lang="tr-TR" dirty="0" err="1"/>
              <a:t>vegenellikle</a:t>
            </a:r>
            <a:r>
              <a:rPr lang="tr-TR" dirty="0"/>
              <a:t> bunu ayrı sayılarla, yani tam dakikalarda ifade </a:t>
            </a:r>
            <a:r>
              <a:rPr lang="tr-TR" dirty="0" err="1"/>
              <a:t>ederiz.Kuantizasyon</a:t>
            </a:r>
            <a:r>
              <a:rPr lang="tr-TR" dirty="0"/>
              <a:t>, önemli bilgileri kaldırmadan (örneğin saatleri ve dakikaları koruyarak) bir değerin doğruluğunu azaltan (örneğin saniyeleri kaldırarak) benzer bir </a:t>
            </a:r>
            <a:r>
              <a:rPr lang="tr-TR" dirty="0" err="1"/>
              <a:t>işlemdir.Kuantizasyon</a:t>
            </a:r>
            <a:r>
              <a:rPr lang="tr-TR" dirty="0"/>
              <a:t>, bir değeri tam sayılara yuvarlamakla </a:t>
            </a:r>
            <a:r>
              <a:rPr lang="tr-TR" dirty="0" err="1"/>
              <a:t>benzerdir.Kuantizasyon</a:t>
            </a:r>
            <a:r>
              <a:rPr lang="tr-TR" dirty="0"/>
              <a:t>, bir değeri tam sayılara yuvarlamakla benzerdir.</a:t>
            </a:r>
          </a:p>
          <a:p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0381BC-8536-8087-33A4-09237DB4F9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21EC2-CB17-468B-A2FC-B7715AAA317B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754457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A88AC-AB7A-45FB-5A97-5C09A8567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49EB28-8962-37C3-4C15-6CDF35C1DF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403913-A35C-A3A3-1C19-326AC3886A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err="1"/>
              <a:t>Kuantizasyon</a:t>
            </a:r>
            <a:r>
              <a:rPr lang="tr-TR" dirty="0"/>
              <a:t>, orijinal bilgilerin çoğunu korumaya çalışırken bir </a:t>
            </a:r>
            <a:r>
              <a:rPr lang="tr-TR" dirty="0" err="1"/>
              <a:t>LLM'nin</a:t>
            </a:r>
            <a:r>
              <a:rPr lang="tr-TR" dirty="0"/>
              <a:t> parametrelerini temsil etmek için gereken bit sayısını </a:t>
            </a:r>
            <a:r>
              <a:rPr lang="tr-TR" dirty="0" err="1"/>
              <a:t>azaltır.Bu</a:t>
            </a:r>
            <a:r>
              <a:rPr lang="tr-TR" dirty="0"/>
              <a:t>, hassasiyette bir miktar kayıp ile birlikte gelir, ancak modelin çalışması çok daha hızlı olduğu, daha az VRAM gerektirdiği ve genellikle orijinal kadar doğru olduğu için bunu telafi </a:t>
            </a:r>
            <a:r>
              <a:rPr lang="tr-TR" dirty="0" err="1"/>
              <a:t>eder.Kuantizasyonu</a:t>
            </a:r>
            <a:r>
              <a:rPr lang="tr-TR" dirty="0"/>
              <a:t> açıklamak için şu benzetmeyi ele alalım. Saatin kaç olduğunu sorulduğunda, “14:16” diyebilirsiniz, bu doğru ama tam olarak kesin bir cevap değildir.“14:16” </a:t>
            </a:r>
            <a:r>
              <a:rPr lang="tr-TR" dirty="0" err="1"/>
              <a:t>diyebilirdiniz.Kuantizasyonu</a:t>
            </a:r>
            <a:r>
              <a:rPr lang="tr-TR" dirty="0"/>
              <a:t> açıklamak için şu benzetmeyi düşünün. Saatin kaç olduğunu sorulduğunda,“14:16” diyebilirsiniz, bu doğru ama tam olarak kesin bir cevap değildir. Bunun yerine“14:16 ve 12 saniye” diyebilirdiniz, bu daha kesin bir cevap </a:t>
            </a:r>
            <a:r>
              <a:rPr lang="tr-TR" dirty="0" err="1"/>
              <a:t>olurdu.Ancak</a:t>
            </a:r>
            <a:r>
              <a:rPr lang="tr-TR" dirty="0"/>
              <a:t> saniyeleri belirtmek nadiren yararlıdır </a:t>
            </a:r>
            <a:r>
              <a:rPr lang="tr-TR" dirty="0" err="1"/>
              <a:t>vegenellikle</a:t>
            </a:r>
            <a:r>
              <a:rPr lang="tr-TR" dirty="0"/>
              <a:t> bunu ayrı sayılarla, yani tam dakikalarda ifade </a:t>
            </a:r>
            <a:r>
              <a:rPr lang="tr-TR" dirty="0" err="1"/>
              <a:t>ederiz.Kuantizasyon</a:t>
            </a:r>
            <a:r>
              <a:rPr lang="tr-TR" dirty="0"/>
              <a:t>, önemli bilgileri kaldırmadan (örneğin saatleri ve dakikaları koruyarak) bir değerin doğruluğunu azaltan (örneğin saniyeleri kaldırarak) benzer bir </a:t>
            </a:r>
            <a:r>
              <a:rPr lang="tr-TR" dirty="0" err="1"/>
              <a:t>işlemdir.Kuantizasyon</a:t>
            </a:r>
            <a:r>
              <a:rPr lang="tr-TR" dirty="0"/>
              <a:t>, bir değeri tam sayılara yuvarlamakla </a:t>
            </a:r>
            <a:r>
              <a:rPr lang="tr-TR" dirty="0" err="1"/>
              <a:t>benzerdir.Kuantizasyon</a:t>
            </a:r>
            <a:r>
              <a:rPr lang="tr-TR" dirty="0"/>
              <a:t>, bir değeri tam sayılara yuvarlamakla benzerdir.</a:t>
            </a:r>
          </a:p>
          <a:p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D901C-3BCC-0280-FC2B-5D1EF2A105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21EC2-CB17-468B-A2FC-B7715AAA317B}" type="slidenum">
              <a:rPr lang="tr-TR" smtClean="0"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799703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0CD74-F519-54CA-563A-06E9117EA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FA7A4A-FD9E-1ABC-B5F6-0D7C3C9AE4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6A73B2-424F-07DC-1CA3-DAC440111E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err="1"/>
              <a:t>Kuantizasyon</a:t>
            </a:r>
            <a:r>
              <a:rPr lang="tr-TR" dirty="0"/>
              <a:t>, orijinal bilgilerin çoğunu korumaya çalışırken bir </a:t>
            </a:r>
            <a:r>
              <a:rPr lang="tr-TR" dirty="0" err="1"/>
              <a:t>LLM'nin</a:t>
            </a:r>
            <a:r>
              <a:rPr lang="tr-TR" dirty="0"/>
              <a:t> parametrelerini temsil etmek için gereken bit sayısını </a:t>
            </a:r>
            <a:r>
              <a:rPr lang="tr-TR" dirty="0" err="1"/>
              <a:t>azaltır.Bu</a:t>
            </a:r>
            <a:r>
              <a:rPr lang="tr-TR" dirty="0"/>
              <a:t>, hassasiyette bir miktar kayıp ile birlikte gelir, ancak modelin çalışması çok daha hızlı olduğu, daha az VRAM gerektirdiği ve genellikle orijinal kadar doğru olduğu için bunu telafi </a:t>
            </a:r>
            <a:r>
              <a:rPr lang="tr-TR" dirty="0" err="1"/>
              <a:t>eder.Kuantizasyonu</a:t>
            </a:r>
            <a:r>
              <a:rPr lang="tr-TR" dirty="0"/>
              <a:t> açıklamak için şu benzetmeyi ele alalım. Saatin kaç olduğunu sorulduğunda, “14:16” diyebilirsiniz, bu doğru ama tam olarak kesin bir cevap değildir.“14:16” </a:t>
            </a:r>
            <a:r>
              <a:rPr lang="tr-TR" dirty="0" err="1"/>
              <a:t>diyebilirdiniz.Kuantizasyonu</a:t>
            </a:r>
            <a:r>
              <a:rPr lang="tr-TR" dirty="0"/>
              <a:t> açıklamak için şu benzetmeyi düşünün. Saatin kaç olduğunu sorulduğunda,“14:16” diyebilirsiniz, bu doğru ama tam olarak kesin bir cevap değildir. Bunun yerine“14:16 ve 12 saniye” diyebilirdiniz, bu daha kesin bir cevap </a:t>
            </a:r>
            <a:r>
              <a:rPr lang="tr-TR" dirty="0" err="1"/>
              <a:t>olurdu.Ancak</a:t>
            </a:r>
            <a:r>
              <a:rPr lang="tr-TR" dirty="0"/>
              <a:t> saniyeleri belirtmek nadiren yararlıdır </a:t>
            </a:r>
            <a:r>
              <a:rPr lang="tr-TR" dirty="0" err="1"/>
              <a:t>vegenellikle</a:t>
            </a:r>
            <a:r>
              <a:rPr lang="tr-TR" dirty="0"/>
              <a:t> bunu ayrı sayılarla, yani tam dakikalarda ifade </a:t>
            </a:r>
            <a:r>
              <a:rPr lang="tr-TR" dirty="0" err="1"/>
              <a:t>ederiz.Kuantizasyon</a:t>
            </a:r>
            <a:r>
              <a:rPr lang="tr-TR" dirty="0"/>
              <a:t>, önemli bilgileri kaldırmadan (örneğin saatleri ve dakikaları koruyarak) bir değerin doğruluğunu azaltan (örneğin saniyeleri kaldırarak) benzer bir </a:t>
            </a:r>
            <a:r>
              <a:rPr lang="tr-TR" dirty="0" err="1"/>
              <a:t>işlemdir.Kuantizasyon</a:t>
            </a:r>
            <a:r>
              <a:rPr lang="tr-TR" dirty="0"/>
              <a:t>, bir değeri tam sayılara yuvarlamakla </a:t>
            </a:r>
            <a:r>
              <a:rPr lang="tr-TR" dirty="0" err="1"/>
              <a:t>benzerdir.Kuantizasyon</a:t>
            </a:r>
            <a:r>
              <a:rPr lang="tr-TR" dirty="0"/>
              <a:t>, bir değeri tam sayılara yuvarlamakla benzerdir.</a:t>
            </a:r>
          </a:p>
          <a:p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E366B3-2D7F-AAE6-2A3A-61132D9EDB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21EC2-CB17-468B-A2FC-B7715AAA317B}" type="slidenum">
              <a:rPr lang="tr-TR" smtClean="0"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448755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BEA27-EB25-8E67-2671-C3190DC91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125A33-5F95-140D-CA3A-F76C252091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3CECF5-692C-1AF9-0E4B-064A80E75D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Bunun yerine, bu karmaşık komut istemini sırayla çalıştırılabilecek daha küçük alt görevlere </a:t>
            </a:r>
            <a:r>
              <a:rPr lang="tr-TR" dirty="0" err="1"/>
              <a:t>bölebiliriz.Bunun</a:t>
            </a:r>
            <a:r>
              <a:rPr lang="tr-TR" dirty="0"/>
              <a:t> yerine, bu karmaşık komut istemini sırayla çalıştırılabilecek daha küçük alt </a:t>
            </a:r>
            <a:r>
              <a:rPr lang="tr-TR" dirty="0" err="1"/>
              <a:t>görevlerebölünebiliriz</a:t>
            </a:r>
            <a:r>
              <a:rPr lang="tr-TR" dirty="0"/>
              <a:t>. Bu, </a:t>
            </a:r>
            <a:r>
              <a:rPr lang="tr-TR" dirty="0" err="1"/>
              <a:t>LLM'ye</a:t>
            </a:r>
            <a:r>
              <a:rPr lang="tr-TR" dirty="0"/>
              <a:t> birden fazla çağrı yapılmasını gerektirir,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00E1D5-A398-BE82-A61A-54E910A5E8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21EC2-CB17-468B-A2FC-B7715AAA317B}" type="slidenum">
              <a:rPr lang="tr-TR" smtClean="0"/>
              <a:t>10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823525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1F179-A405-D9A4-8B27-8ECFC4B16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136E7E-7295-FA00-A955-911FC5D447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A1B680-79E2-60A0-4D68-843D05A5AD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Bunun yerine, bu karmaşık komut istemini sırayla çalıştırılabilecek daha küçük alt görevlere </a:t>
            </a:r>
            <a:r>
              <a:rPr lang="tr-TR" dirty="0" err="1"/>
              <a:t>bölebiliriz.Bunun</a:t>
            </a:r>
            <a:r>
              <a:rPr lang="tr-TR" dirty="0"/>
              <a:t> yerine, bu karmaşık komut istemini sırayla çalıştırılabilecek daha küçük alt </a:t>
            </a:r>
            <a:r>
              <a:rPr lang="tr-TR" dirty="0" err="1"/>
              <a:t>görevlerebölünebiliriz</a:t>
            </a:r>
            <a:r>
              <a:rPr lang="tr-TR" dirty="0"/>
              <a:t>. Bu, </a:t>
            </a:r>
            <a:r>
              <a:rPr lang="tr-TR" dirty="0" err="1"/>
              <a:t>LLM'ye</a:t>
            </a:r>
            <a:r>
              <a:rPr lang="tr-TR" dirty="0"/>
              <a:t> birden fazla çağrı yapılmasını gerektirir,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383146-13B6-88F6-EFFE-F33A1F93F9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21EC2-CB17-468B-A2FC-B7715AAA317B}" type="slidenum">
              <a:rPr lang="tr-TR" smtClean="0"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662694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92B85-253D-C58E-4DEE-3E751149A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71DC39-2256-854F-0A20-83104317CA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C7CEBB-AB40-39A1-7CA9-A7735CA2D3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Bunun yerine, bu karmaşık komut istemini sırayla çalıştırılabilecek daha küçük alt görevlere </a:t>
            </a:r>
            <a:r>
              <a:rPr lang="tr-TR" dirty="0" err="1"/>
              <a:t>bölebiliriz.Bunun</a:t>
            </a:r>
            <a:r>
              <a:rPr lang="tr-TR" dirty="0"/>
              <a:t> yerine, bu karmaşık komut istemini sırayla çalıştırılabilecek daha küçük alt </a:t>
            </a:r>
            <a:r>
              <a:rPr lang="tr-TR" dirty="0" err="1"/>
              <a:t>görevlerebölünebiliriz</a:t>
            </a:r>
            <a:r>
              <a:rPr lang="tr-TR" dirty="0"/>
              <a:t>. Bu, </a:t>
            </a:r>
            <a:r>
              <a:rPr lang="tr-TR" dirty="0" err="1"/>
              <a:t>LLM'ye</a:t>
            </a:r>
            <a:r>
              <a:rPr lang="tr-TR" dirty="0"/>
              <a:t> birden fazla çağrı yapılmasını gerektirir,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8EF010-1799-719E-22B3-4602D468B7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21EC2-CB17-468B-A2FC-B7715AAA317B}" type="slidenum">
              <a:rPr lang="tr-TR" smtClean="0"/>
              <a:t>12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344466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2D2A0-46EA-B036-6887-CA61D36BB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E59433-5606-7118-77FE-EDB2F1A071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2A9106-EE6A-803C-49EA-FE17A2067F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Bunun yerine, bu karmaşık komut istemini sırayla çalıştırılabilecek daha küçük alt görevlere </a:t>
            </a:r>
            <a:r>
              <a:rPr lang="tr-TR" dirty="0" err="1"/>
              <a:t>bölebiliriz.Bunun</a:t>
            </a:r>
            <a:r>
              <a:rPr lang="tr-TR" dirty="0"/>
              <a:t> yerine, bu karmaşık komut istemini sırayla çalıştırılabilecek daha küçük alt </a:t>
            </a:r>
            <a:r>
              <a:rPr lang="tr-TR" dirty="0" err="1"/>
              <a:t>görevlerebölünebiliriz</a:t>
            </a:r>
            <a:r>
              <a:rPr lang="tr-TR" dirty="0"/>
              <a:t>. Bu, </a:t>
            </a:r>
            <a:r>
              <a:rPr lang="tr-TR" dirty="0" err="1"/>
              <a:t>LLM'ye</a:t>
            </a:r>
            <a:r>
              <a:rPr lang="tr-TR" dirty="0"/>
              <a:t> birden fazla çağrı yapılmasını gerektirir,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DB0FF0-6B46-0055-3759-EEE23AFDFD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21EC2-CB17-468B-A2FC-B7715AAA317B}" type="slidenum">
              <a:rPr lang="tr-TR" smtClean="0"/>
              <a:t>13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351373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29CA7-E134-294D-149A-D0D8395A0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C01DCF-4F75-2581-14C5-13D0DA665C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D328E9-650C-AAEB-48F0-FCAE87CB9B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Bunun yerine, bu karmaşık komut istemini sırayla çalıştırılabilecek daha küçük alt görevlere </a:t>
            </a:r>
            <a:r>
              <a:rPr lang="tr-TR" dirty="0" err="1"/>
              <a:t>bölebiliriz.Bunun</a:t>
            </a:r>
            <a:r>
              <a:rPr lang="tr-TR" dirty="0"/>
              <a:t> yerine, bu karmaşık komut istemini sırayla çalıştırılabilecek daha küçük alt </a:t>
            </a:r>
            <a:r>
              <a:rPr lang="tr-TR" dirty="0" err="1"/>
              <a:t>görevlerebölünebiliriz</a:t>
            </a:r>
            <a:r>
              <a:rPr lang="tr-TR" dirty="0"/>
              <a:t>. Bu, </a:t>
            </a:r>
            <a:r>
              <a:rPr lang="tr-TR" dirty="0" err="1"/>
              <a:t>LLM'ye</a:t>
            </a:r>
            <a:r>
              <a:rPr lang="tr-TR" dirty="0"/>
              <a:t> birden fazla çağrı yapılmasını gerektirir,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A9CBD5-5283-834B-7B66-215618CBC9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21EC2-CB17-468B-A2FC-B7715AAA317B}" type="slidenum">
              <a:rPr lang="tr-TR" smtClean="0"/>
              <a:t>14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389579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BB441-5BEF-A11E-9C68-64D7AEBBD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DBBFAC-B51A-2F24-9554-BABD421603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D2AFEB-0110-9D59-4254-59DB71D85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7EB414-2C83-8BEA-132D-950C36A0C4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21EC2-CB17-468B-A2FC-B7715AAA317B}" type="slidenum">
              <a:rPr lang="tr-TR" smtClean="0"/>
              <a:t>15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605449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A65DE-63BF-03DC-BD6D-0E6121339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9B0768-9645-64C6-BEA9-E70864F6BC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FD1F58-AED4-75D1-981F-40B59B8AB1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E5DA39-EBC2-6D14-41E2-72A39F57C9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21EC2-CB17-468B-A2FC-B7715AAA317B}" type="slidenum">
              <a:rPr lang="tr-TR" smtClean="0"/>
              <a:t>16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816162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99E27-3BFA-CAEC-21DF-DC376A8BC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3B64EA-13C2-D507-D89F-C86DF6B3F0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E6134F-50B7-5296-B9AE-E988F55228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D57562-D6CC-1FFF-678D-8B9AC8A97F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21EC2-CB17-468B-A2FC-B7715AAA317B}" type="slidenum">
              <a:rPr lang="tr-TR" smtClean="0"/>
              <a:t>17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165886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55B63-F71B-73C7-9D68-45C85E9F5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40413F-723B-C49B-C75F-D8647F58D1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F8F1FD-50A4-8B51-570A-5E7028504E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E5028A-0F0D-DB22-CA8C-D77DBD8C96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21EC2-CB17-468B-A2FC-B7715AAA317B}" type="slidenum">
              <a:rPr lang="tr-TR" smtClean="0"/>
              <a:t>18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130310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942C2-78B5-BAC9-2384-093414B25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C2C68C-F0E7-F403-0A3D-00D602C0E4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01CE96-F6AD-2807-7E52-90670DAFA1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örnekte, 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LLM'nin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matematiksel bir görevle karşılaştığında hesap makinesini kullanmasını bekleriz. Şimdi bunu arama motoru veya hava durumu 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API'si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gibi düzinelerce başka araçla genişlettiğimizi hayal edin. Birdenbire, 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LLM'lerin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yetenekleri önemli ölçüde artar.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tr-TR" altLang="tr-T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Diğer bir deyişle, 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LLM'leri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kullanan ajanlar, güçlü genel problem çözücüler olabilir. Kullandıkları araçlar önemli olsa da, birçok ajan tabanlı sistemin itici gücü, 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Reasoning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Acting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(ReAct1) adlı bir çerçevenin kullanılmasıdır.</a:t>
            </a:r>
          </a:p>
          <a:p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4D518F-E2FE-E4B8-A3E3-BABE682A94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21EC2-CB17-468B-A2FC-B7715AAA317B}" type="slidenum">
              <a:rPr lang="tr-TR" smtClean="0"/>
              <a:t>19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05550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5DA00-9E11-193B-18C7-C11EE981B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37FDFB-2322-007A-32C5-D590B391F4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D28F0A-846A-68FD-1B4B-5E36A6E30F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örnekte, 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LLM'nin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matematiksel bir görevle karşılaştığında hesap makinesini kullanmasını bekleriz. Şimdi bunu arama motoru veya hava durumu 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API'si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gibi düzinelerce başka araçla genişlettiğimizi hayal edin. Birdenbire, 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LLM'lerin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yetenekleri önemli ölçüde artar.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tr-TR" altLang="tr-T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Diğer bir deyişle, 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LLM'leri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kullanan ajanlar, güçlü genel problem çözücüler olabilir. Kullandıkları araçlar önemli olsa da, birçok ajan tabanlı sistemin itici gücü, 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Reasoning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Acting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(ReAct1) adlı bir çerçevenin kullanılmasıdır.</a:t>
            </a:r>
          </a:p>
          <a:p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22706-9723-BAC8-0C49-A5888B6035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21EC2-CB17-468B-A2FC-B7715AAA317B}" type="slidenum">
              <a:rPr lang="tr-TR" smtClean="0"/>
              <a:t>20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314563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2FD72-062B-E2A8-4815-84067EA35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15CE06-DAA5-DEF2-0B12-E5C7FFF237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AFAD21-5103-C139-6BFE-30A2C15F18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örnekte, 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LLM'nin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matematiksel bir görevle karşılaştığında hesap makinesini kullanmasını bekleriz. Şimdi bunu arama motoru veya hava durumu 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API'si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gibi düzinelerce başka araçla genişlettiğimizi hayal edin. Birdenbire, 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LLM'lerin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yetenekleri önemli ölçüde artar.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tr-TR" altLang="tr-T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Diğer bir deyişle, 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LLM'leri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kullanan ajanlar, güçlü genel problem çözücüler olabilir. Kullandıkları araçlar önemli olsa da, birçok ajan tabanlı sistemin itici gücü, 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Reasoning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Acting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(ReAct1) adlı bir çerçevenin kullanılmasıdır.</a:t>
            </a:r>
          </a:p>
          <a:p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58A53B-F147-0A9F-6ECE-BE29C076D2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21EC2-CB17-468B-A2FC-B7715AAA317B}" type="slidenum">
              <a:rPr lang="tr-TR" smtClean="0"/>
              <a:t>21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049386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880B0-69B8-05B7-7DB1-1F9997A62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DFF4B8-2401-7041-6F1E-DD88C827B5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A23E6D-4CCA-D4E7-4415-AA9AF0B9EB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örnekte, 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LLM'nin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matematiksel bir görevle karşılaştığında hesap makinesini kullanmasını bekleriz. Şimdi bunu arama motoru veya hava durumu 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API'si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gibi düzinelerce başka araçla genişlettiğimizi hayal edin. Birdenbire, 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LLM'lerin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yetenekleri önemli ölçüde artar.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tr-TR" altLang="tr-T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Diğer bir deyişle, 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LLM'leri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kullanan ajanlar, güçlü genel problem çözücüler olabilir. Kullandıkları araçlar önemli olsa da, birçok ajan tabanlı sistemin itici gücü, 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Reasoning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Acting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(ReAct1) adlı bir çerçevenin kullanılmasıdır.</a:t>
            </a:r>
          </a:p>
          <a:p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56D0F6-1D54-3ED9-280F-75F8332B4E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21EC2-CB17-468B-A2FC-B7715AAA317B}" type="slidenum">
              <a:rPr lang="tr-TR" smtClean="0"/>
              <a:t>22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985428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tr-TR" smtClean="0"/>
              <a:t>‹#›</a:t>
            </a:fld>
            <a:endParaRPr lang="tr-TR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2035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305409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94823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924106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03565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98085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26798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870749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619835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Yazılı Panoramik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tr-T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89024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ve Resim Yazıs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3420619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im Yazılı 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tr-TR" smtClean="0"/>
              <a:t>‹#›</a:t>
            </a:fld>
            <a:endParaRPr lang="tr-TR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396974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1029774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ıntı 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tr-TR"/>
              <a:t>Asıl metin stillerini düzenlemek için tıklayın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tr-TR" smtClean="0"/>
              <a:t>‹#›</a:t>
            </a:fld>
            <a:endParaRPr lang="tr-TR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040200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ğru veya Yanlı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tr-TR"/>
              <a:t>Asıl metin stillerini düzenlemek için tıklayın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522254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646253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38467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533059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18229" y="611914"/>
            <a:ext cx="4919980" cy="96244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3650"/>
              </a:lnSpc>
            </a:pPr>
            <a:r>
              <a:rPr lang="tr-TR" sz="3200" b="1" dirty="0">
                <a:solidFill>
                  <a:srgbClr val="FFFFFF"/>
                </a:solidFill>
                <a:latin typeface="Cambria"/>
                <a:cs typeface="Cambria"/>
              </a:rPr>
              <a:t>YZM423</a:t>
            </a:r>
          </a:p>
          <a:p>
            <a:pPr algn="ctr">
              <a:lnSpc>
                <a:spcPts val="3650"/>
              </a:lnSpc>
            </a:pPr>
            <a:r>
              <a:rPr lang="tr-TR" sz="3200" b="1" dirty="0">
                <a:solidFill>
                  <a:srgbClr val="FFFFFF"/>
                </a:solidFill>
                <a:latin typeface="Cambria"/>
                <a:cs typeface="Cambria"/>
              </a:rPr>
              <a:t>BÜYÜK DİL MODELLERİ</a:t>
            </a:r>
            <a:endParaRPr sz="3200" dirty="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81200" y="1580394"/>
            <a:ext cx="8610600" cy="27828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tr-TR" sz="4800" spc="-10" dirty="0"/>
              <a:t>Gelişmiş Metin Oluşturma Teknikleri ve Araçları</a:t>
            </a:r>
            <a:br>
              <a:rPr lang="tr-TR" sz="4800" spc="-10" dirty="0"/>
            </a:br>
            <a:r>
              <a:rPr lang="tr-TR" sz="2800" spc="-10" dirty="0"/>
              <a:t>(</a:t>
            </a:r>
            <a:r>
              <a:rPr lang="en-US" sz="2800" spc="-10" dirty="0"/>
              <a:t>Advanced Text</a:t>
            </a:r>
            <a:br>
              <a:rPr lang="en-US" sz="2800" spc="-10" dirty="0"/>
            </a:br>
            <a:r>
              <a:rPr lang="en-US" sz="2800" spc="-10" dirty="0"/>
              <a:t>Generation Techniques and</a:t>
            </a:r>
            <a:br>
              <a:rPr lang="en-US" sz="2800" spc="-10" dirty="0"/>
            </a:br>
            <a:r>
              <a:rPr lang="en-US" sz="2800" spc="-10" dirty="0"/>
              <a:t>Tools</a:t>
            </a:r>
            <a:r>
              <a:rPr lang="tr-TR" sz="2800" spc="-10" dirty="0"/>
              <a:t>)</a:t>
            </a:r>
            <a:endParaRPr sz="4800" dirty="0"/>
          </a:p>
        </p:txBody>
      </p:sp>
      <p:sp>
        <p:nvSpPr>
          <p:cNvPr id="5" name="object 5"/>
          <p:cNvSpPr txBox="1">
            <a:spLocks noGrp="1"/>
          </p:cNvSpPr>
          <p:nvPr>
            <p:ph idx="1"/>
          </p:nvPr>
        </p:nvSpPr>
        <p:spPr>
          <a:xfrm>
            <a:off x="2860040" y="4876800"/>
            <a:ext cx="6436359" cy="888064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130"/>
              </a:spcBef>
            </a:pPr>
            <a:r>
              <a:rPr lang="tr-TR" b="1" spc="-10" dirty="0" err="1">
                <a:solidFill>
                  <a:srgbClr val="FFFFFF"/>
                </a:solidFill>
              </a:rPr>
              <a:t>Dr.Öğr.Üyesi</a:t>
            </a:r>
            <a:r>
              <a:rPr lang="tr-TR" b="1" spc="-10" dirty="0">
                <a:solidFill>
                  <a:srgbClr val="FFFFFF"/>
                </a:solidFill>
              </a:rPr>
              <a:t> Murat ŞİMŞEK</a:t>
            </a:r>
          </a:p>
          <a:p>
            <a:pPr marL="1905" algn="ctr">
              <a:lnSpc>
                <a:spcPct val="100000"/>
              </a:lnSpc>
              <a:spcBef>
                <a:spcPts val="1130"/>
              </a:spcBef>
            </a:pPr>
            <a:r>
              <a:rPr lang="tr-TR" b="1" spc="-10" dirty="0">
                <a:solidFill>
                  <a:srgbClr val="FFFFFF"/>
                </a:solidFill>
                <a:latin typeface="Cambria"/>
                <a:cs typeface="Cambria"/>
              </a:rPr>
              <a:t>Ostim Teknik Üniversitesi</a:t>
            </a:r>
            <a:endParaRPr b="1" dirty="0">
              <a:solidFill>
                <a:srgbClr val="FFFFFF"/>
              </a:solidFill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978640" y="6567902"/>
            <a:ext cx="160655" cy="20447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mbria"/>
                <a:cs typeface="Cambria"/>
              </a:rPr>
              <a:t>1</a:t>
            </a:fld>
            <a:endParaRPr sz="1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5465" y="123512"/>
            <a:ext cx="1169670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tr-TR" spc="-5" dirty="0"/>
              <a:t>Büyük dil modelleri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12010135" y="649538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390057-CC85-15F9-3264-A7A47F997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1371600"/>
            <a:ext cx="6858000" cy="47905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83CCC-F9EA-FBEA-A213-B31DE123B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3D0C9D00-2C27-9588-9E4E-B36CCA6E52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465" y="123512"/>
            <a:ext cx="1169670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tr-TR" spc="-10" dirty="0"/>
              <a:t>Gelişmiş Metin Oluşturma Teknikleri ve Araçları</a:t>
            </a:r>
            <a:endParaRPr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B939190-11F8-2977-4545-0905FC3C699F}"/>
              </a:ext>
            </a:extLst>
          </p:cNvPr>
          <p:cNvSpPr txBox="1"/>
          <p:nvPr/>
        </p:nvSpPr>
        <p:spPr>
          <a:xfrm>
            <a:off x="12010135" y="649538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85BBB9D5-0FEC-197B-227B-BC01511147B8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EA2B79-18F5-B0C5-028D-83A68AED5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219200"/>
            <a:ext cx="10159981" cy="27431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71B6932-AF80-269C-08F5-C38400B78B63}"/>
              </a:ext>
            </a:extLst>
          </p:cNvPr>
          <p:cNvSpPr txBox="1"/>
          <p:nvPr/>
        </p:nvSpPr>
        <p:spPr>
          <a:xfrm>
            <a:off x="784184" y="4207639"/>
            <a:ext cx="1087441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Bu bölümde, üretilen metnin kalitesini iyileştirmek için bu tür birkaç yöntem ve kavramı inceleyeceğiz:</a:t>
            </a:r>
          </a:p>
          <a:p>
            <a:r>
              <a:rPr lang="tr-TR" dirty="0"/>
              <a:t>Model: </a:t>
            </a:r>
            <a:r>
              <a:rPr lang="tr-TR" dirty="0" err="1"/>
              <a:t>LLM'leri</a:t>
            </a:r>
            <a:r>
              <a:rPr lang="tr-TR" dirty="0"/>
              <a:t> yükleme ve bunlarla çalışma</a:t>
            </a:r>
          </a:p>
          <a:p>
            <a:r>
              <a:rPr lang="tr-TR" dirty="0"/>
              <a:t>Bellek: </a:t>
            </a:r>
            <a:r>
              <a:rPr lang="tr-TR" dirty="0" err="1"/>
              <a:t>LLM'lerin</a:t>
            </a:r>
            <a:r>
              <a:rPr lang="tr-TR" dirty="0"/>
              <a:t> hatırlamasına yardımcı olma</a:t>
            </a:r>
          </a:p>
          <a:p>
            <a:r>
              <a:rPr lang="tr-TR" dirty="0"/>
              <a:t>Ajanlar: Karmaşık davranışları harici araçlarla birleştirme</a:t>
            </a:r>
          </a:p>
          <a:p>
            <a:r>
              <a:rPr lang="tr-TR" dirty="0"/>
              <a:t>Zincirler: Yöntemleri ve modülleri birbirine bağlama</a:t>
            </a:r>
          </a:p>
          <a:p>
            <a:r>
              <a:rPr lang="tr-TR" dirty="0"/>
              <a:t>Bu yöntemlerin tümü, bu bölüm boyunca bu gelişmiş teknikleri kolayca kullanmamıza yardımcı olacak </a:t>
            </a:r>
            <a:r>
              <a:rPr lang="tr-TR" dirty="0" err="1"/>
              <a:t>LangChain</a:t>
            </a:r>
            <a:r>
              <a:rPr lang="tr-TR" dirty="0"/>
              <a:t> çerçevesine entegre edilmiştir.</a:t>
            </a:r>
          </a:p>
        </p:txBody>
      </p:sp>
    </p:spTree>
    <p:extLst>
      <p:ext uri="{BB962C8B-B14F-4D97-AF65-F5344CB8AC3E}">
        <p14:creationId xmlns:p14="http://schemas.microsoft.com/office/powerpoint/2010/main" val="2228497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C860C-A6DC-A37D-5447-AD1F621F9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B9AB857-6967-48C0-183E-0988BE4C3C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465" y="-30376"/>
            <a:ext cx="11696700" cy="8739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tr-TR" sz="2800" spc="-10" dirty="0"/>
              <a:t>Model I/O: </a:t>
            </a:r>
            <a:r>
              <a:rPr lang="tr-TR" sz="2800" spc="-10" dirty="0" err="1"/>
              <a:t>LangChain</a:t>
            </a:r>
            <a:r>
              <a:rPr lang="tr-TR" sz="2800" spc="-10" dirty="0"/>
              <a:t> ile </a:t>
            </a:r>
            <a:r>
              <a:rPr lang="tr-TR" sz="2800" spc="-10" dirty="0" err="1"/>
              <a:t>Kuantize</a:t>
            </a:r>
            <a:r>
              <a:rPr lang="tr-TR" sz="2800" spc="-10" dirty="0"/>
              <a:t> Edilmiş Modellerin Yüklenmesi</a:t>
            </a:r>
            <a:endParaRPr sz="280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CCE6589-4F69-CABD-E8FB-607FCAD01EC3}"/>
              </a:ext>
            </a:extLst>
          </p:cNvPr>
          <p:cNvSpPr txBox="1"/>
          <p:nvPr/>
        </p:nvSpPr>
        <p:spPr>
          <a:xfrm>
            <a:off x="12010135" y="649538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83319A0E-8088-90CD-4194-BD415600478B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57C376-9897-4716-1875-34E20A3A9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143000"/>
            <a:ext cx="7543800" cy="294208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70CF989-C8E4-639B-A42E-D65E929D6954}"/>
              </a:ext>
            </a:extLst>
          </p:cNvPr>
          <p:cNvSpPr txBox="1"/>
          <p:nvPr/>
        </p:nvSpPr>
        <p:spPr>
          <a:xfrm>
            <a:off x="245465" y="5018061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GGUF modeli, bir </a:t>
            </a:r>
            <a:r>
              <a:rPr lang="tr-TR" dirty="0" err="1"/>
              <a:t>LLM'nin</a:t>
            </a:r>
            <a:r>
              <a:rPr lang="tr-TR" dirty="0"/>
              <a:t> parametrelerini temsil etmek için gereken bit sayısını azaltan </a:t>
            </a:r>
            <a:r>
              <a:rPr lang="tr-TR" dirty="0" err="1"/>
              <a:t>kuantizasyon</a:t>
            </a:r>
            <a:r>
              <a:rPr lang="tr-TR" dirty="0"/>
              <a:t> adı verilen bir yöntemle orijinal modelin sıkıştırılmış bir versiyonunu temsil eder.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0 ve 1'lerden oluşan bitler, değerleri </a:t>
            </a:r>
            <a:r>
              <a:rPr lang="tr-TR" dirty="0" err="1"/>
              <a:t>ikilibiçimde</a:t>
            </a:r>
            <a:r>
              <a:rPr lang="tr-TR" dirty="0"/>
              <a:t> kodlayarak temsil eder.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Daha fazla bit, daha geniş bir değer aralığı sağlar, ancak bu değerleri depolamak için daha fazla bellek gerektirir</a:t>
            </a:r>
          </a:p>
        </p:txBody>
      </p:sp>
    </p:spTree>
    <p:extLst>
      <p:ext uri="{BB962C8B-B14F-4D97-AF65-F5344CB8AC3E}">
        <p14:creationId xmlns:p14="http://schemas.microsoft.com/office/powerpoint/2010/main" val="3290321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A50BB-4856-DDAB-85CF-403B4FBFC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28E3A96-1BFB-05D3-E6DA-11A731DC0D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465" y="-30376"/>
            <a:ext cx="11696700" cy="8739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tr-TR" sz="2800" spc="-10" dirty="0"/>
              <a:t>Model I/O: </a:t>
            </a:r>
            <a:r>
              <a:rPr lang="tr-TR" sz="2800" spc="-10" dirty="0" err="1"/>
              <a:t>LangChain</a:t>
            </a:r>
            <a:r>
              <a:rPr lang="tr-TR" sz="2800" spc="-10" dirty="0"/>
              <a:t> ile </a:t>
            </a:r>
            <a:r>
              <a:rPr lang="tr-TR" sz="2800" spc="-10" dirty="0" err="1"/>
              <a:t>Kuantize</a:t>
            </a:r>
            <a:r>
              <a:rPr lang="tr-TR" sz="2800" spc="-10" dirty="0"/>
              <a:t> Edilmiş Modellerin Yüklenmesi</a:t>
            </a:r>
            <a:endParaRPr sz="280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4560234-EC0D-D459-60E9-2AC37518B797}"/>
              </a:ext>
            </a:extLst>
          </p:cNvPr>
          <p:cNvSpPr txBox="1"/>
          <p:nvPr/>
        </p:nvSpPr>
        <p:spPr>
          <a:xfrm>
            <a:off x="12010135" y="649538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162F38E1-BD48-7E8F-AC3F-0DB6302CA0FC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61198B-C69E-3065-8D26-73E8DB5A5C1B}"/>
              </a:ext>
            </a:extLst>
          </p:cNvPr>
          <p:cNvSpPr txBox="1"/>
          <p:nvPr/>
        </p:nvSpPr>
        <p:spPr>
          <a:xfrm>
            <a:off x="381000" y="1295400"/>
            <a:ext cx="103632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b="1" dirty="0" err="1"/>
              <a:t>Kuantizasyon</a:t>
            </a:r>
            <a:r>
              <a:rPr lang="tr-TR" b="1" dirty="0"/>
              <a:t>, </a:t>
            </a:r>
            <a:r>
              <a:rPr lang="tr-TR" dirty="0"/>
              <a:t>orijinal bilgilerin çoğunu korumaya çalışırken bir </a:t>
            </a:r>
            <a:r>
              <a:rPr lang="tr-TR" dirty="0" err="1"/>
              <a:t>LLM'nin</a:t>
            </a:r>
            <a:r>
              <a:rPr lang="tr-TR" dirty="0"/>
              <a:t> parametrelerini temsil etmek için gereken bit sayısını azaltır.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Bu, hassasiyette bir miktar kayıp ile birlikte gelir, ancak modelin çalışması çok daha hızlı olduğu, daha az VRAM gerektirdiği ve genellikle orijinal kadar doğru olduğu için bunu telafi eder.</a:t>
            </a:r>
          </a:p>
          <a:p>
            <a:endParaRPr lang="tr-TR" dirty="0"/>
          </a:p>
          <a:p>
            <a:r>
              <a:rPr lang="tr-TR" dirty="0" err="1"/>
              <a:t>Kuantizasyonu</a:t>
            </a:r>
            <a:r>
              <a:rPr lang="tr-TR" dirty="0"/>
              <a:t> açıklamak için şu benzetmeyi ele alalım. Saatin kaç olduğunu sorulduğunda, “14:16” diyebilirsiniz, bu doğru ama tam olarak kesin bir cevap değildir.“14:16” </a:t>
            </a:r>
            <a:r>
              <a:rPr lang="tr-TR" dirty="0" err="1"/>
              <a:t>diyebilirdiniz.Kuantizasyonu</a:t>
            </a:r>
            <a:r>
              <a:rPr lang="tr-TR" dirty="0"/>
              <a:t> açıklamak için şu benzetmeyi düşünün. Saatin kaç olduğunu sorulduğunda,“14:16” diyebilirsiniz, bu doğru ama tam olarak kesin bir cevap değildir. Bunun yerine“14:16 ve 12 saniye” diyebilirdiniz, bu daha kesin bir cevap </a:t>
            </a:r>
            <a:r>
              <a:rPr lang="tr-TR" dirty="0" err="1"/>
              <a:t>olurdu.Ancak</a:t>
            </a:r>
            <a:r>
              <a:rPr lang="tr-TR" dirty="0"/>
              <a:t> saniyeleri belirtmek nadiren yararlıdır </a:t>
            </a:r>
            <a:r>
              <a:rPr lang="tr-TR" dirty="0" err="1"/>
              <a:t>vegenellikle</a:t>
            </a:r>
            <a:r>
              <a:rPr lang="tr-TR" dirty="0"/>
              <a:t> bunu ayrı sayılarla, yani tam dakikalarda ifade </a:t>
            </a:r>
            <a:r>
              <a:rPr lang="tr-TR" dirty="0" err="1"/>
              <a:t>ederiz.Kuantizasyon</a:t>
            </a:r>
            <a:r>
              <a:rPr lang="tr-TR" dirty="0"/>
              <a:t>, önemli bilgileri kaldırmadan (örneğin saatleri ve dakikaları koruyarak) bir değerin doğruluğunu azaltan (örneğin saniyeleri kaldırarak) benzer bir </a:t>
            </a:r>
            <a:r>
              <a:rPr lang="tr-TR" dirty="0" err="1"/>
              <a:t>işlemdir.Kuantizasyon</a:t>
            </a:r>
            <a:r>
              <a:rPr lang="tr-TR" dirty="0"/>
              <a:t>, bir değeri tam sayılara yuvarlamakla </a:t>
            </a:r>
            <a:r>
              <a:rPr lang="tr-TR" dirty="0" err="1"/>
              <a:t>benzerdir.Kuantizasyon</a:t>
            </a:r>
            <a:r>
              <a:rPr lang="tr-TR" dirty="0"/>
              <a:t>, bir değeri tam sayılara yuvarlamakla benzerdir.</a:t>
            </a:r>
          </a:p>
        </p:txBody>
      </p:sp>
    </p:spTree>
    <p:extLst>
      <p:ext uri="{BB962C8B-B14F-4D97-AF65-F5344CB8AC3E}">
        <p14:creationId xmlns:p14="http://schemas.microsoft.com/office/powerpoint/2010/main" val="2930553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37BCA-5FA5-041C-89EB-4962A1D62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2B27E83-6231-918F-7044-E91882F43E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465" y="185067"/>
            <a:ext cx="1169670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tr-TR" sz="2800" spc="-10" dirty="0"/>
              <a:t>Zincirler: </a:t>
            </a:r>
            <a:r>
              <a:rPr lang="tr-TR" sz="2800" spc="-10" dirty="0" err="1"/>
              <a:t>LLM'lerin</a:t>
            </a:r>
            <a:r>
              <a:rPr lang="tr-TR" sz="2800" spc="-10" dirty="0"/>
              <a:t> Yeteneklerini Genişletmek</a:t>
            </a:r>
            <a:endParaRPr sz="280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6C15696-F834-BD51-CF18-A8C65B795F62}"/>
              </a:ext>
            </a:extLst>
          </p:cNvPr>
          <p:cNvSpPr txBox="1"/>
          <p:nvPr/>
        </p:nvSpPr>
        <p:spPr>
          <a:xfrm>
            <a:off x="12010135" y="649538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AFF0C6A8-57AC-3D40-AB1A-BC465861F0CC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D81885A4-E4CB-8340-30CD-95F5F55140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312" y="1445547"/>
            <a:ext cx="11734318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LangChain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ana yöntemlerinden biri olan zincirlerden adını almıştır.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LLM'leri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tek başına çalıştırabiliriz, ancak bunların gücü, ek bileşenlerle birlikte veya birbirleriyle birlikte kullanıldıklarında ortaya çıkar.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Zincirler,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LLM'lerin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yeteneklerini genişletmekle kalmaz, aynı zamanda birden fazla zincirin birbirine bağlanmasına da olanak tanır.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tr-TR" altLang="tr-TR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LangChain'de</a:t>
            </a:r>
            <a:r>
              <a:rPr kumimoji="0" lang="tr-TR" altLang="tr-T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zincirin en temel biçimi BASİT ZİNCİRDİR.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tr-TR" altLang="tr-TR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7EA258C-A1C3-D29D-B774-E94047B0B6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4001822"/>
            <a:ext cx="6773333" cy="1952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893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40274-C2B4-CB64-D1C7-65B70153C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790D9CE-9EC9-0374-85DC-9907946323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465" y="185067"/>
            <a:ext cx="1169670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tr-TR" sz="2800" spc="-10" dirty="0"/>
              <a:t>Zincirler: </a:t>
            </a:r>
            <a:r>
              <a:rPr lang="tr-TR" sz="2800" spc="-10" dirty="0" err="1"/>
              <a:t>LLM'lerin</a:t>
            </a:r>
            <a:r>
              <a:rPr lang="tr-TR" sz="2800" spc="-10" dirty="0"/>
              <a:t> Yeteneklerini Genişletmek</a:t>
            </a:r>
            <a:endParaRPr sz="280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3F15107-3F15-DFED-AAF7-5D6A5534C647}"/>
              </a:ext>
            </a:extLst>
          </p:cNvPr>
          <p:cNvSpPr txBox="1"/>
          <p:nvPr/>
        </p:nvSpPr>
        <p:spPr>
          <a:xfrm>
            <a:off x="12010135" y="649538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2A3E6E17-344E-0860-6504-8656101EE779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C53E61-0F29-D670-88E7-6B86C6A57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95400"/>
            <a:ext cx="10390911" cy="304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A9CA74F-1177-1D84-89FD-60006D331315}"/>
              </a:ext>
            </a:extLst>
          </p:cNvPr>
          <p:cNvSpPr txBox="1"/>
          <p:nvPr/>
        </p:nvSpPr>
        <p:spPr>
          <a:xfrm>
            <a:off x="685800" y="4788230"/>
            <a:ext cx="9525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Bir komut istemi şablonunu LLM ile zincirleyerek, yalnızca giriş komut istemlerini tanımlamamız yeterlidir.</a:t>
            </a:r>
          </a:p>
          <a:p>
            <a:r>
              <a:rPr lang="tr-TR" dirty="0"/>
              <a:t>Şablon sizin için oluşturulacaktır.</a:t>
            </a:r>
          </a:p>
        </p:txBody>
      </p:sp>
    </p:spTree>
    <p:extLst>
      <p:ext uri="{BB962C8B-B14F-4D97-AF65-F5344CB8AC3E}">
        <p14:creationId xmlns:p14="http://schemas.microsoft.com/office/powerpoint/2010/main" val="2337620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88241-29FF-B318-69A4-61AC09AA6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70BFFEC0-48DC-24C4-95D6-FF629CA4EC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465" y="185067"/>
            <a:ext cx="1169670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tr-TR" sz="2800" spc="-10" dirty="0"/>
              <a:t>Zincirler: </a:t>
            </a:r>
            <a:r>
              <a:rPr lang="tr-TR" sz="2800" spc="-10" dirty="0" err="1"/>
              <a:t>LLM'lerin</a:t>
            </a:r>
            <a:r>
              <a:rPr lang="tr-TR" sz="2800" spc="-10" dirty="0"/>
              <a:t> Yeteneklerini Genişletmek</a:t>
            </a:r>
            <a:endParaRPr sz="280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129CEB2-B406-C6CE-DF47-A7CB7E7E1ED6}"/>
              </a:ext>
            </a:extLst>
          </p:cNvPr>
          <p:cNvSpPr txBox="1"/>
          <p:nvPr/>
        </p:nvSpPr>
        <p:spPr>
          <a:xfrm>
            <a:off x="12010135" y="649538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25A43ED-E52E-9DE4-6F08-679C7FB862FF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662E0C-0CB7-0A69-3095-B290F30D5D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19199"/>
            <a:ext cx="8325550" cy="4495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340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446B0-3324-45F4-8D2A-8B00889A2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B9CA23A-A199-5CB4-B30C-A3797FD327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465" y="185067"/>
            <a:ext cx="1169670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tr-TR" sz="2800" spc="-10" dirty="0"/>
              <a:t>Zincirler: </a:t>
            </a:r>
            <a:r>
              <a:rPr lang="tr-TR" sz="2800" spc="-10" dirty="0" err="1"/>
              <a:t>LLM'lerin</a:t>
            </a:r>
            <a:r>
              <a:rPr lang="tr-TR" sz="2800" spc="-10" dirty="0"/>
              <a:t> Yeteneklerini Genişletmek</a:t>
            </a:r>
            <a:endParaRPr sz="280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FDC8894-253A-9A19-2EC9-4B0415A7F082}"/>
              </a:ext>
            </a:extLst>
          </p:cNvPr>
          <p:cNvSpPr txBox="1"/>
          <p:nvPr/>
        </p:nvSpPr>
        <p:spPr>
          <a:xfrm>
            <a:off x="12010135" y="649538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A61CE032-9789-23FB-F1A8-4F2C71B7E1E8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266FDE-4287-37FE-2089-03207A940C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71600"/>
            <a:ext cx="9324454" cy="2362195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327355EE-C90C-B4CF-23F9-CBB335DD8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4615934"/>
            <a:ext cx="6096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Phi-3 şablonunu kullanan tek zincir örneği.</a:t>
            </a:r>
          </a:p>
        </p:txBody>
      </p:sp>
    </p:spTree>
    <p:extLst>
      <p:ext uri="{BB962C8B-B14F-4D97-AF65-F5344CB8AC3E}">
        <p14:creationId xmlns:p14="http://schemas.microsoft.com/office/powerpoint/2010/main" val="365860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9616B-DE61-86AE-0919-17ED3611E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FAA0493-B020-AB5C-8A84-3C43B9DF3C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465" y="185067"/>
            <a:ext cx="1169670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tr-TR" sz="2800" spc="-10" dirty="0"/>
              <a:t>Birden Fazla İstem İçeren Zincir</a:t>
            </a:r>
            <a:endParaRPr sz="280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24CFAD5-72E3-392C-0F45-CAAE4EDAB643}"/>
              </a:ext>
            </a:extLst>
          </p:cNvPr>
          <p:cNvSpPr txBox="1"/>
          <p:nvPr/>
        </p:nvSpPr>
        <p:spPr>
          <a:xfrm>
            <a:off x="12010135" y="649538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A7DE06A8-EBAD-A42E-9F5B-CDF5784501E5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0086261-740A-84A0-490E-B97C02F2F8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110746"/>
            <a:ext cx="8763000" cy="4512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478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EF24D-87E4-67BE-4E53-3E8D06AAD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5432DAE-1C85-AE4D-C845-FE278CAE8C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465" y="185067"/>
            <a:ext cx="1169670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tr-TR" sz="2800" spc="-10" dirty="0"/>
              <a:t>Birden Fazla İstem İçeren Zincir</a:t>
            </a:r>
            <a:endParaRPr sz="280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883776C-1096-EE76-9B71-AAED3CBB572F}"/>
              </a:ext>
            </a:extLst>
          </p:cNvPr>
          <p:cNvSpPr txBox="1"/>
          <p:nvPr/>
        </p:nvSpPr>
        <p:spPr>
          <a:xfrm>
            <a:off x="12010135" y="649538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C3B3C14-E731-A38F-C04A-23459943BE96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3EE1D9-B211-793A-6B00-6FB988665B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1295400"/>
            <a:ext cx="8915400" cy="3699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6304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AE973-FB2F-9DFA-D5C7-769CE5411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7053D23-7EE5-C07B-9C3A-0B52DB88EB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465" y="-30377"/>
            <a:ext cx="11696700" cy="8739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tr-TR" sz="2800" spc="-10" dirty="0"/>
              <a:t>Hafıza: </a:t>
            </a:r>
            <a:r>
              <a:rPr lang="tr-TR" sz="2800" spc="-10" dirty="0" err="1"/>
              <a:t>LLM'lerin</a:t>
            </a:r>
            <a:r>
              <a:rPr lang="tr-TR" sz="2800" spc="-10" dirty="0"/>
              <a:t> Hatırlamasına Yardımcı Olmak</a:t>
            </a:r>
            <a:br>
              <a:rPr lang="tr-TR" sz="2800" spc="-10" dirty="0"/>
            </a:br>
            <a:r>
              <a:rPr lang="tr-TR" sz="2800" spc="-10" dirty="0"/>
              <a:t>Sohbetler</a:t>
            </a:r>
            <a:endParaRPr sz="280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E3B88E9-6C07-14A1-5E48-8D283EE9F794}"/>
              </a:ext>
            </a:extLst>
          </p:cNvPr>
          <p:cNvSpPr txBox="1"/>
          <p:nvPr/>
        </p:nvSpPr>
        <p:spPr>
          <a:xfrm>
            <a:off x="12010135" y="649538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643FF87-E691-B736-714D-3838F5D4A7CD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B7A3D1-583F-48D4-3947-4C0EDB19AF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00" y="1142999"/>
            <a:ext cx="6858000" cy="3348990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CFB034D6-63C7-E159-E6CF-C25438AD2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4602564"/>
            <a:ext cx="9368274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modelleri durum bilgisi içeren hale getirmek için, daha önce oluşturduğumuz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zincirine belirli türde bellekler ekleyebiliriz.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bölümde,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LLM'lerin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konuşmaları hatırlamasına yardımcı olan iki yaygın yöntemi ele alacağız:</a:t>
            </a:r>
          </a:p>
          <a:p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Konuşma tamponu</a:t>
            </a:r>
            <a:r>
              <a:rPr lang="tr-TR" dirty="0"/>
              <a:t> </a:t>
            </a:r>
            <a:r>
              <a:rPr lang="tr-TR" dirty="0" err="1"/>
              <a:t>Conversation</a:t>
            </a:r>
            <a:r>
              <a:rPr lang="tr-TR" dirty="0"/>
              <a:t> </a:t>
            </a:r>
            <a:r>
              <a:rPr lang="tr-TR" dirty="0" err="1"/>
              <a:t>buffer</a:t>
            </a:r>
            <a:endParaRPr lang="tr-TR" dirty="0"/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Konuşma özeti </a:t>
            </a:r>
            <a:r>
              <a:rPr lang="tr-TR" dirty="0" err="1"/>
              <a:t>Conversation</a:t>
            </a:r>
            <a:r>
              <a:rPr lang="tr-TR" dirty="0"/>
              <a:t> </a:t>
            </a:r>
            <a:r>
              <a:rPr lang="tr-TR" dirty="0" err="1"/>
              <a:t>summary</a:t>
            </a:r>
            <a:endParaRPr lang="tr-TR" altLang="tr-TR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4458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E9540-6A29-D51B-7939-85E2DD28A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75E2B13-8E3C-950E-3D15-97473CE6B3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465" y="185066"/>
            <a:ext cx="1169670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tr-TR" sz="2800" spc="-10" dirty="0"/>
              <a:t>Konuşma tamponu </a:t>
            </a:r>
            <a:endParaRPr sz="280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C92057D-6529-7415-EC1B-429190A6210C}"/>
              </a:ext>
            </a:extLst>
          </p:cNvPr>
          <p:cNvSpPr txBox="1"/>
          <p:nvPr/>
        </p:nvSpPr>
        <p:spPr>
          <a:xfrm>
            <a:off x="12010135" y="649538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83069684-D7FC-54FB-95D4-053FF602FF11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EC83AB-BEA8-19CC-4235-3F554902C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1110746"/>
            <a:ext cx="8139372" cy="3689849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AB6B6F1F-DDCF-E0B2-C69B-ACA98A902D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5383759"/>
            <a:ext cx="929640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LangChain'de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 tür bellek,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ConversationBufferMemory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olarak adlandırılır.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Bunun  uygulanması için, sohbet geçmişini tutmak üzere önceki komut istemimizi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güncellememiz gerekir.</a:t>
            </a:r>
          </a:p>
        </p:txBody>
      </p:sp>
    </p:spTree>
    <p:extLst>
      <p:ext uri="{BB962C8B-B14F-4D97-AF65-F5344CB8AC3E}">
        <p14:creationId xmlns:p14="http://schemas.microsoft.com/office/powerpoint/2010/main" val="2077383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0AFE5-A534-0C76-0516-DC493A381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3C0861C6-383B-3985-2B90-431E9B2197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465" y="185066"/>
            <a:ext cx="1169670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tr-TR" sz="2800" spc="-10" dirty="0"/>
              <a:t>Konuşma tamponu </a:t>
            </a:r>
            <a:endParaRPr sz="280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EF366B6-DCC0-05B1-D88E-E6D29789489B}"/>
              </a:ext>
            </a:extLst>
          </p:cNvPr>
          <p:cNvSpPr txBox="1"/>
          <p:nvPr/>
        </p:nvSpPr>
        <p:spPr>
          <a:xfrm>
            <a:off x="12010135" y="649538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9E53D4C3-4F09-23E6-1F28-7F0E4BB91205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236961-2AAE-5A9E-655B-65757B2235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23999"/>
            <a:ext cx="9797138" cy="2514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5512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FF8B4-8795-A524-DDFD-CE6F7AD38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AED862D-A4CF-0715-45C9-9B6ACE3FD9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465" y="185066"/>
            <a:ext cx="1169670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tr-TR" altLang="tr-TR" sz="2800" cap="none" dirty="0">
                <a:ln>
                  <a:noFill/>
                </a:ln>
                <a:latin typeface="Arial" panose="020B0604020202020204" pitchFamily="34" charset="0"/>
              </a:rPr>
              <a:t>KONUŞMA ÖZETİ</a:t>
            </a:r>
            <a:endParaRPr sz="280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9912921-B576-3F4E-08AA-114709E4A51A}"/>
              </a:ext>
            </a:extLst>
          </p:cNvPr>
          <p:cNvSpPr txBox="1"/>
          <p:nvPr/>
        </p:nvSpPr>
        <p:spPr>
          <a:xfrm>
            <a:off x="12010135" y="649538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0D23D51D-5EDF-57B8-850E-4F180990D859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224E1FAC-3E3C-FD69-6AEA-0A22C7F986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116534"/>
            <a:ext cx="8382000" cy="3576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6C6DB6A-D739-2303-D3B3-D886E69B8031}"/>
              </a:ext>
            </a:extLst>
          </p:cNvPr>
          <p:cNvSpPr txBox="1"/>
          <p:nvPr/>
        </p:nvSpPr>
        <p:spPr>
          <a:xfrm>
            <a:off x="990600" y="4741063"/>
            <a:ext cx="9220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 err="1"/>
              <a:t>ConversationBufferMemory</a:t>
            </a:r>
            <a:r>
              <a:rPr lang="tr-TR" dirty="0"/>
              <a:t> kullanıldığında, konuşmanın boyutu artmaya başlar ve yavaş yavaş </a:t>
            </a:r>
            <a:r>
              <a:rPr lang="tr-TR" dirty="0" err="1"/>
              <a:t>token</a:t>
            </a:r>
            <a:r>
              <a:rPr lang="tr-TR" dirty="0"/>
              <a:t> sınırına yaklaşır.  </a:t>
            </a:r>
          </a:p>
          <a:p>
            <a:r>
              <a:rPr lang="tr-TR" dirty="0" err="1"/>
              <a:t>ConversationBufferWindowMemory</a:t>
            </a:r>
            <a:r>
              <a:rPr lang="tr-TR" dirty="0"/>
              <a:t>, </a:t>
            </a:r>
            <a:r>
              <a:rPr lang="tr-TR" dirty="0" err="1"/>
              <a:t>token</a:t>
            </a:r>
            <a:r>
              <a:rPr lang="tr-TR" dirty="0"/>
              <a:t> sınırları sorununu bir dereceye kadar çözer, ancak yalnızca son k konuşma saklanır.</a:t>
            </a:r>
          </a:p>
        </p:txBody>
      </p:sp>
    </p:spTree>
    <p:extLst>
      <p:ext uri="{BB962C8B-B14F-4D97-AF65-F5344CB8AC3E}">
        <p14:creationId xmlns:p14="http://schemas.microsoft.com/office/powerpoint/2010/main" val="1529753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96AA4-5D36-3968-4DAB-F5D8A6601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52BD6E6-9B95-27EB-689B-9D7B214F2E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465" y="185066"/>
            <a:ext cx="1169670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tr-TR" altLang="tr-TR" sz="2800" cap="none" dirty="0">
                <a:ln>
                  <a:noFill/>
                </a:ln>
                <a:latin typeface="Arial" panose="020B0604020202020204" pitchFamily="34" charset="0"/>
              </a:rPr>
              <a:t>KONUŞMA ÖZETİ</a:t>
            </a:r>
            <a:endParaRPr sz="280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613C76B-1FD4-4FBB-1D09-9C7447EC1DD8}"/>
              </a:ext>
            </a:extLst>
          </p:cNvPr>
          <p:cNvSpPr txBox="1"/>
          <p:nvPr/>
        </p:nvSpPr>
        <p:spPr>
          <a:xfrm>
            <a:off x="12010135" y="649538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A6CE8CF-746A-9A7E-5E47-433E6AB75BD1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234ADDA3-14EC-0C0D-77FC-E5CEA9F7CE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199" y="1110747"/>
            <a:ext cx="8544457" cy="3232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71481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0D0EA-D7EB-06BA-C185-5DE75566F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7929E54-1DEB-3697-D241-33590D173D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465" y="185066"/>
            <a:ext cx="1169670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tr-TR" altLang="tr-TR" sz="2800" cap="none" dirty="0">
                <a:ln>
                  <a:noFill/>
                </a:ln>
                <a:latin typeface="Arial" panose="020B0604020202020204" pitchFamily="34" charset="0"/>
              </a:rPr>
              <a:t>KONUŞMA ÖZETİ</a:t>
            </a:r>
            <a:endParaRPr sz="280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E2DD263-396C-14CF-D999-7EB710FA9CC5}"/>
              </a:ext>
            </a:extLst>
          </p:cNvPr>
          <p:cNvSpPr txBox="1"/>
          <p:nvPr/>
        </p:nvSpPr>
        <p:spPr>
          <a:xfrm>
            <a:off x="12010135" y="649538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9C48AAE-209B-4D9E-8594-34D2FBD4D2BE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E45AD50-A8AA-77E7-CDFB-C238AC26ED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217405"/>
              </p:ext>
            </p:extLst>
          </p:nvPr>
        </p:nvGraphicFramePr>
        <p:xfrm>
          <a:off x="282118" y="1110746"/>
          <a:ext cx="10843083" cy="4680452"/>
        </p:xfrm>
        <a:graphic>
          <a:graphicData uri="http://schemas.openxmlformats.org/drawingml/2006/table">
            <a:tbl>
              <a:tblPr/>
              <a:tblGrid>
                <a:gridCol w="3614361">
                  <a:extLst>
                    <a:ext uri="{9D8B030D-6E8A-4147-A177-3AD203B41FA5}">
                      <a16:colId xmlns:a16="http://schemas.microsoft.com/office/drawing/2014/main" val="2230745220"/>
                    </a:ext>
                  </a:extLst>
                </a:gridCol>
                <a:gridCol w="3614361">
                  <a:extLst>
                    <a:ext uri="{9D8B030D-6E8A-4147-A177-3AD203B41FA5}">
                      <a16:colId xmlns:a16="http://schemas.microsoft.com/office/drawing/2014/main" val="169184770"/>
                    </a:ext>
                  </a:extLst>
                </a:gridCol>
                <a:gridCol w="3614361">
                  <a:extLst>
                    <a:ext uri="{9D8B030D-6E8A-4147-A177-3AD203B41FA5}">
                      <a16:colId xmlns:a16="http://schemas.microsoft.com/office/drawing/2014/main" val="3012193693"/>
                    </a:ext>
                  </a:extLst>
                </a:gridCol>
              </a:tblGrid>
              <a:tr h="2611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 b="1"/>
                        <a:t>Bellek türü</a:t>
                      </a:r>
                    </a:p>
                  </a:txBody>
                  <a:tcPr marL="49517" marR="49517" marT="24758" marB="247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 b="1"/>
                        <a:t>Artıları (Pros)</a:t>
                      </a:r>
                    </a:p>
                  </a:txBody>
                  <a:tcPr marL="49517" marR="49517" marT="24758" marB="247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 b="1"/>
                        <a:t>Eksileri (Cons)</a:t>
                      </a:r>
                    </a:p>
                  </a:txBody>
                  <a:tcPr marL="49517" marR="49517" marT="24758" marB="247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1303522"/>
                  </a:ext>
                </a:extLst>
              </a:tr>
              <a:tr h="17933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 b="1" dirty="0"/>
                        <a:t>Konuşma Tamponu(</a:t>
                      </a:r>
                      <a:r>
                        <a:rPr lang="tr-TR" sz="1000" b="1" dirty="0" err="1"/>
                        <a:t>Conversation</a:t>
                      </a:r>
                      <a:r>
                        <a:rPr lang="tr-TR" sz="1000" b="1" dirty="0"/>
                        <a:t> </a:t>
                      </a:r>
                      <a:r>
                        <a:rPr lang="tr-TR" sz="1000" b="1" dirty="0" err="1"/>
                        <a:t>Buffer</a:t>
                      </a:r>
                      <a:r>
                        <a:rPr lang="tr-TR" sz="1000" b="1" dirty="0"/>
                        <a:t>)</a:t>
                      </a:r>
                    </a:p>
                  </a:txBody>
                  <a:tcPr marL="49517" marR="49517" marT="24758" marB="247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 b="1"/>
                        <a:t>• Uygulaması en kolay yöntemdir.• Bağlam penceresi içinde bilgi kaybı olmamasını sağlar.</a:t>
                      </a:r>
                    </a:p>
                  </a:txBody>
                  <a:tcPr marL="49517" marR="49517" marT="24758" marB="247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 b="1"/>
                        <a:t>• Daha fazla token gerektiği için üretim hızı daha yavaştır.• Yalnızca geniş bağlam penceresine sahip LLM’ler için uygundur.• Sohbet geçmişi büyüdükçe bilgi geri getirimi zorlaşır.</a:t>
                      </a:r>
                    </a:p>
                  </a:txBody>
                  <a:tcPr marL="49517" marR="49517" marT="24758" marB="247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521958"/>
                  </a:ext>
                </a:extLst>
              </a:tr>
              <a:tr h="12169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 b="1"/>
                        <a:t>Pencereli Konuşma Tamponu(Windowed Conversation Buffer)</a:t>
                      </a:r>
                    </a:p>
                  </a:txBody>
                  <a:tcPr marL="49517" marR="49517" marT="24758" marB="247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 b="1"/>
                        <a:t>• Sohbet geçmişi çok büyük olmadığı sürece geniş-bağlam LLM’lere gerek yoktur.• Son k etkileşimde bilgi kaybı olmaz.</a:t>
                      </a:r>
                    </a:p>
                  </a:txBody>
                  <a:tcPr marL="49517" marR="49517" marT="24758" marB="247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 b="1"/>
                        <a:t>• Yalnızca son k etkileşimi tutar.• Son k etkileşim üzerinde hiçbir sıkıştırma yapılmaz.</a:t>
                      </a:r>
                    </a:p>
                  </a:txBody>
                  <a:tcPr marL="49517" marR="49517" marT="24758" marB="247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832403"/>
                  </a:ext>
                </a:extLst>
              </a:tr>
              <a:tr h="1409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 b="1"/>
                        <a:t>Konuşma Özeti(Conversation Summary)</a:t>
                      </a:r>
                    </a:p>
                  </a:txBody>
                  <a:tcPr marL="49517" marR="49517" marT="24758" marB="247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 b="1"/>
                        <a:t>• Tüm sohbet geçmişini kapsar.• Uzun sohbetleri mümkün kılar.• Tüm geçmişi temsil etmek için gereken token sayısını azaltır.</a:t>
                      </a:r>
                    </a:p>
                  </a:txBody>
                  <a:tcPr marL="49517" marR="49517" marT="24758" marB="247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 b="1" dirty="0"/>
                        <a:t>• Her etkileşim için ek bir model çağrısı gerekir.• Kalite, </a:t>
                      </a:r>
                      <a:r>
                        <a:rPr lang="tr-TR" sz="1000" b="1" dirty="0" err="1"/>
                        <a:t>LLM’in</a:t>
                      </a:r>
                      <a:r>
                        <a:rPr lang="tr-TR" sz="1000" b="1" dirty="0"/>
                        <a:t> özetleme yeteneklerine bağlıdır.</a:t>
                      </a:r>
                    </a:p>
                  </a:txBody>
                  <a:tcPr marL="49517" marR="49517" marT="24758" marB="247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4380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73246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0E576-AD85-8A44-3B4C-62D6FB949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5C3B492-1626-9938-072F-3F690F08A1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465" y="185066"/>
            <a:ext cx="1169670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tr-TR" altLang="tr-TR" sz="2800" cap="none" dirty="0">
                <a:ln>
                  <a:noFill/>
                </a:ln>
                <a:latin typeface="Arial" panose="020B0604020202020204" pitchFamily="34" charset="0"/>
              </a:rPr>
              <a:t>Ajanlar: LLM Sisteminin Oluşturulması</a:t>
            </a:r>
            <a:endParaRPr sz="280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1237092-D160-3DA6-B627-8FE6CD8FCE0C}"/>
              </a:ext>
            </a:extLst>
          </p:cNvPr>
          <p:cNvSpPr txBox="1"/>
          <p:nvPr/>
        </p:nvSpPr>
        <p:spPr>
          <a:xfrm>
            <a:off x="12010135" y="649538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2633367F-7BCB-F7BF-95EF-37E82C6C12E7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9A562D-AE61-5EB4-DB3C-017EAF1827F9}"/>
              </a:ext>
            </a:extLst>
          </p:cNvPr>
          <p:cNvSpPr txBox="1"/>
          <p:nvPr/>
        </p:nvSpPr>
        <p:spPr>
          <a:xfrm>
            <a:off x="381000" y="1060572"/>
            <a:ext cx="101346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Ajanlar, model I/O, zincirler ve bellek gibi şimdiye kadar gördüğümüz her şeyi kullanabilir ve bunu iki önemli bileşenle daha da genişletebilir:</a:t>
            </a:r>
          </a:p>
          <a:p>
            <a:endParaRPr lang="tr-TR" dirty="0"/>
          </a:p>
          <a:p>
            <a:endParaRPr lang="tr-TR" dirty="0"/>
          </a:p>
          <a:p>
            <a:r>
              <a:rPr lang="tr-TR" dirty="0"/>
              <a:t>Ajanın kendi başına yapamadığı şeyleri yapmak için kullanabileceği </a:t>
            </a:r>
            <a:r>
              <a:rPr lang="tr-TR" b="1" dirty="0"/>
              <a:t>araçlar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r>
              <a:rPr lang="tr-TR" dirty="0"/>
              <a:t>Alınacak eylemleri veya kullanılacak araçları planlayan </a:t>
            </a:r>
            <a:r>
              <a:rPr lang="tr-TR" b="1" dirty="0"/>
              <a:t>ajan türü</a:t>
            </a:r>
          </a:p>
        </p:txBody>
      </p:sp>
    </p:spTree>
    <p:extLst>
      <p:ext uri="{BB962C8B-B14F-4D97-AF65-F5344CB8AC3E}">
        <p14:creationId xmlns:p14="http://schemas.microsoft.com/office/powerpoint/2010/main" val="10771771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5407F-8B3D-4D4D-7825-6DFEFB10A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ED79297-F856-0891-87BD-5BF7F8124F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465" y="185066"/>
            <a:ext cx="1169670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tr-TR" altLang="tr-TR" sz="2800" cap="none" dirty="0">
                <a:ln>
                  <a:noFill/>
                </a:ln>
                <a:latin typeface="Arial" panose="020B0604020202020204" pitchFamily="34" charset="0"/>
              </a:rPr>
              <a:t>Ajanlar: LLM Sisteminin Oluşturulması</a:t>
            </a:r>
            <a:endParaRPr sz="280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0E6D4E3-B0C8-9405-130F-45B319B5F801}"/>
              </a:ext>
            </a:extLst>
          </p:cNvPr>
          <p:cNvSpPr txBox="1"/>
          <p:nvPr/>
        </p:nvSpPr>
        <p:spPr>
          <a:xfrm>
            <a:off x="12010135" y="649538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9E6E623D-F3E8-F4C3-4708-FFBA152BD27A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2FC8C9E9-35E2-E708-5249-26C6126C8B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933748"/>
            <a:ext cx="9454435" cy="4175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819CF83-0EEF-5D8F-3F8C-B26555A72E88}"/>
              </a:ext>
            </a:extLst>
          </p:cNvPr>
          <p:cNvSpPr txBox="1"/>
          <p:nvPr/>
        </p:nvSpPr>
        <p:spPr>
          <a:xfrm>
            <a:off x="685800" y="5295060"/>
            <a:ext cx="9601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LLM'leri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kullanan ajanlar, güçlü genel problem çözücüler olabilir. Kullandıkları araçlar önemli olsa da, birçok ajan tabanlı sistemin itici gücü,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Reasoning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Acting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(ReAct1) adlı bir çerçevenin kullanılmasıdır.</a:t>
            </a:r>
          </a:p>
        </p:txBody>
      </p:sp>
    </p:spTree>
    <p:extLst>
      <p:ext uri="{BB962C8B-B14F-4D97-AF65-F5344CB8AC3E}">
        <p14:creationId xmlns:p14="http://schemas.microsoft.com/office/powerpoint/2010/main" val="9571949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1D793-23D3-5A9E-0D95-3274BB679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4640E34-9827-9860-F3E5-91EFBBC94E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465" y="185066"/>
            <a:ext cx="1169670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tr-TR" altLang="tr-TR" sz="2800" cap="none" dirty="0">
                <a:ln>
                  <a:noFill/>
                </a:ln>
                <a:latin typeface="Arial" panose="020B0604020202020204" pitchFamily="34" charset="0"/>
              </a:rPr>
              <a:t>Ajanların Arkasındaki İtici Güç: Adım Adım Akıl Yürütme</a:t>
            </a:r>
            <a:endParaRPr sz="280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01E5003-A150-F692-621A-5196E32CF5D4}"/>
              </a:ext>
            </a:extLst>
          </p:cNvPr>
          <p:cNvSpPr txBox="1"/>
          <p:nvPr/>
        </p:nvSpPr>
        <p:spPr>
          <a:xfrm>
            <a:off x="12010135" y="649538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3DC95949-D445-7C78-8587-E10785738D0B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470436-A562-011D-43B9-FBA1AC8D9269}"/>
              </a:ext>
            </a:extLst>
          </p:cNvPr>
          <p:cNvSpPr txBox="1"/>
          <p:nvPr/>
        </p:nvSpPr>
        <p:spPr>
          <a:xfrm>
            <a:off x="245464" y="1169736"/>
            <a:ext cx="1141313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 err="1"/>
              <a:t>ReAct</a:t>
            </a:r>
            <a:r>
              <a:rPr lang="tr-TR" dirty="0"/>
              <a:t>, davranışta iki önemli kavramı birleştiren güçlü bir çerçevedir: </a:t>
            </a:r>
          </a:p>
          <a:p>
            <a:endParaRPr lang="tr-TR" dirty="0"/>
          </a:p>
          <a:p>
            <a:endParaRPr lang="tr-TR" dirty="0"/>
          </a:p>
          <a:p>
            <a:r>
              <a:rPr lang="tr-TR" b="1" dirty="0"/>
              <a:t>akıl yürütme </a:t>
            </a:r>
            <a:r>
              <a:rPr lang="tr-TR" dirty="0"/>
              <a:t>ve </a:t>
            </a:r>
            <a:r>
              <a:rPr lang="tr-TR" b="1" dirty="0"/>
              <a:t>eylem</a:t>
            </a:r>
            <a:r>
              <a:rPr lang="tr-TR" dirty="0"/>
              <a:t>. </a:t>
            </a:r>
          </a:p>
          <a:p>
            <a:endParaRPr lang="tr-TR" dirty="0"/>
          </a:p>
          <a:p>
            <a:endParaRPr lang="tr-TR" dirty="0"/>
          </a:p>
          <a:p>
            <a:r>
              <a:rPr lang="tr-TR" dirty="0"/>
              <a:t>Uygulamada, çerçeve şu üç adımı tekrar tekrar takip etmekten oluşur: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b="1" dirty="0"/>
              <a:t>Düşünce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b="1" dirty="0"/>
              <a:t>Eylem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b="1" dirty="0"/>
              <a:t>Gözlem</a:t>
            </a:r>
          </a:p>
        </p:txBody>
      </p:sp>
    </p:spTree>
    <p:extLst>
      <p:ext uri="{BB962C8B-B14F-4D97-AF65-F5344CB8AC3E}">
        <p14:creationId xmlns:p14="http://schemas.microsoft.com/office/powerpoint/2010/main" val="135341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B27B2-0DFF-5B7B-4F75-01B6D9193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38D15C6B-9DA1-A81D-B6C6-3AAF11C0A3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465" y="185066"/>
            <a:ext cx="1169670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tr-TR" altLang="tr-TR" sz="2800" cap="none" dirty="0">
                <a:ln>
                  <a:noFill/>
                </a:ln>
                <a:latin typeface="Arial" panose="020B0604020202020204" pitchFamily="34" charset="0"/>
              </a:rPr>
              <a:t>Ajanların Arkasındaki İtici Güç: Adım Adım Akıl Yürütme</a:t>
            </a:r>
            <a:endParaRPr sz="280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1BDFDC9-7952-90E7-728F-6C274A23E6A9}"/>
              </a:ext>
            </a:extLst>
          </p:cNvPr>
          <p:cNvSpPr txBox="1"/>
          <p:nvPr/>
        </p:nvSpPr>
        <p:spPr>
          <a:xfrm>
            <a:off x="12010135" y="649538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F36017AE-BA5E-CA9A-C4FD-9BD7A171637D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B12EB279-ADB8-595D-AF3C-3E7D2A03C5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110747"/>
            <a:ext cx="8229600" cy="5102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07420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90C29-0F57-DFD3-5D59-431F660AA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9F5664C-2844-A778-925A-CA90AF4FB5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465" y="185066"/>
            <a:ext cx="1169670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tr-TR" altLang="tr-TR" sz="2800" cap="none" dirty="0">
                <a:ln>
                  <a:noFill/>
                </a:ln>
                <a:latin typeface="Arial" panose="020B0604020202020204" pitchFamily="34" charset="0"/>
              </a:rPr>
              <a:t>Ajanların Arkasındaki İtici Güç: Adım Adım Akıl Yürütme</a:t>
            </a:r>
            <a:endParaRPr sz="280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62C37F2-35D2-6353-C38D-9C4BDE3A974E}"/>
              </a:ext>
            </a:extLst>
          </p:cNvPr>
          <p:cNvSpPr txBox="1"/>
          <p:nvPr/>
        </p:nvSpPr>
        <p:spPr>
          <a:xfrm>
            <a:off x="12010135" y="649538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D7CF7EFC-70B5-4453-E35D-4D535DE8505E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7EE8AFC5-26BA-0488-251C-C127842462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214729"/>
            <a:ext cx="6858000" cy="5280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4349434"/>
      </p:ext>
    </p:extLst>
  </p:cSld>
  <p:clrMapOvr>
    <a:masterClrMapping/>
  </p:clrMapOvr>
</p:sld>
</file>

<file path=ppt/theme/theme1.xml><?xml version="1.0" encoding="utf-8"?>
<a:theme xmlns:a="http://schemas.openxmlformats.org/drawingml/2006/main" name="Dilim">
  <a:themeElements>
    <a:clrScheme name="Dilim">
      <a:dk1>
        <a:sysClr val="windowText" lastClr="000000"/>
      </a:dk1>
      <a:lt1>
        <a:sysClr val="window" lastClr="FFFFFF"/>
      </a:lt1>
      <a:dk2>
        <a:srgbClr val="AD2E03"/>
      </a:dk2>
      <a:lt2>
        <a:srgbClr val="D75626"/>
      </a:lt2>
      <a:accent1>
        <a:srgbClr val="760603"/>
      </a:accent1>
      <a:accent2>
        <a:srgbClr val="FA9C1F"/>
      </a:accent2>
      <a:accent3>
        <a:srgbClr val="D9BB55"/>
      </a:accent3>
      <a:accent4>
        <a:srgbClr val="829551"/>
      </a:accent4>
      <a:accent5>
        <a:srgbClr val="58A28B"/>
      </a:accent5>
      <a:accent6>
        <a:srgbClr val="426480"/>
      </a:accent6>
      <a:hlink>
        <a:srgbClr val="460402"/>
      </a:hlink>
      <a:folHlink>
        <a:srgbClr val="991111"/>
      </a:folHlink>
    </a:clrScheme>
    <a:fontScheme name="Dilim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lim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142000"/>
                <a:satMod val="200000"/>
                <a:lumMod val="118000"/>
              </a:schemeClr>
            </a:gs>
            <a:gs pos="100000">
              <a:schemeClr val="phClr">
                <a:shade val="94000"/>
                <a:hueMod val="22000"/>
                <a:satMod val="220000"/>
                <a:lumMod val="62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142000"/>
                <a:satMod val="200000"/>
                <a:lumMod val="118000"/>
              </a:schemeClr>
            </a:gs>
            <a:gs pos="100000">
              <a:schemeClr val="phClr">
                <a:shade val="92000"/>
                <a:hueMod val="22000"/>
                <a:satMod val="220000"/>
                <a:lumMod val="62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2903AAAE-3EA5-424A-B142-CC51DC1F897D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1489</TotalTime>
  <Words>2439</Words>
  <Application>Microsoft Office PowerPoint</Application>
  <PresentationFormat>Widescreen</PresentationFormat>
  <Paragraphs>159</Paragraphs>
  <Slides>22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Aptos</vt:lpstr>
      <vt:lpstr>Arial</vt:lpstr>
      <vt:lpstr>Calibri</vt:lpstr>
      <vt:lpstr>Cambria</vt:lpstr>
      <vt:lpstr>Century Gothic</vt:lpstr>
      <vt:lpstr>Wingdings 3</vt:lpstr>
      <vt:lpstr>Dilim</vt:lpstr>
      <vt:lpstr>Gelişmiş Metin Oluşturma Teknikleri ve Araçları (Advanced Text Generation Techniques and Tools)</vt:lpstr>
      <vt:lpstr>Büyük dil modelleri</vt:lpstr>
      <vt:lpstr>Gelişmiş Metin Oluşturma Teknikleri ve Araçları</vt:lpstr>
      <vt:lpstr>Model I/O: LangChain ile Kuantize Edilmiş Modellerin Yüklenmesi</vt:lpstr>
      <vt:lpstr>Model I/O: LangChain ile Kuantize Edilmiş Modellerin Yüklenmesi</vt:lpstr>
      <vt:lpstr>Zincirler: LLM'lerin Yeteneklerini Genişletmek</vt:lpstr>
      <vt:lpstr>Zincirler: LLM'lerin Yeteneklerini Genişletmek</vt:lpstr>
      <vt:lpstr>Zincirler: LLM'lerin Yeteneklerini Genişletmek</vt:lpstr>
      <vt:lpstr>Zincirler: LLM'lerin Yeteneklerini Genişletmek</vt:lpstr>
      <vt:lpstr>Birden Fazla İstem İçeren Zincir</vt:lpstr>
      <vt:lpstr>Birden Fazla İstem İçeren Zincir</vt:lpstr>
      <vt:lpstr>Hafıza: LLM'lerin Hatırlamasına Yardımcı Olmak Sohbetler</vt:lpstr>
      <vt:lpstr>Konuşma tamponu </vt:lpstr>
      <vt:lpstr>Konuşma tamponu </vt:lpstr>
      <vt:lpstr>KONUŞMA ÖZETİ</vt:lpstr>
      <vt:lpstr>KONUŞMA ÖZETİ</vt:lpstr>
      <vt:lpstr>KONUŞMA ÖZETİ</vt:lpstr>
      <vt:lpstr>Ajanlar: LLM Sisteminin Oluşturulması</vt:lpstr>
      <vt:lpstr>Ajanlar: LLM Sisteminin Oluşturulması</vt:lpstr>
      <vt:lpstr>Ajanların Arkasındaki İtici Güç: Adım Adım Akıl Yürütme</vt:lpstr>
      <vt:lpstr>Ajanların Arkasındaki İtici Güç: Adım Adım Akıl Yürütme</vt:lpstr>
      <vt:lpstr>Ajanların Arkasındaki İtici Güç: Adım Adım Akıl Yürütme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LEA</dc:creator>
  <cp:lastModifiedBy>k127a</cp:lastModifiedBy>
  <cp:revision>122</cp:revision>
  <dcterms:created xsi:type="dcterms:W3CDTF">2024-09-06T11:48:08Z</dcterms:created>
  <dcterms:modified xsi:type="dcterms:W3CDTF">2025-11-24T12:43:30Z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2022-02-26T00:00:00Z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2024-09-06T00:00:00Z</vt:filetime>
  </property>
</Properties>
</file>